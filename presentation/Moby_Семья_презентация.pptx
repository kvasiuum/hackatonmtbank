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Титул" id="{3501d3d1-4c4c-2ad1-b6f2-c3472908a729}">
          <p14:sldIdLst>
            <p14:sldId id="256"/>
          </p14:sldIdLst>
        </p14:section>
        <p14:section name="Анализ ТЗ" id="{f3c7866a-dfe6-f348-b02d-e760444c6fd6}">
          <p14:sldIdLst>
            <p14:sldId id="257"/>
          </p14:sldIdLst>
        </p14:section>
        <p14:section name="Концепция" id="{ab5b38dc-c2e8-254c-6c96-5b8f951339d7}">
          <p14:sldIdLst>
            <p14:sldId id="258"/>
            <p14:sldId id="259"/>
          </p14:sldIdLst>
        </p14:section>
        <p14:section name="Целевая аудитория" id="{a743417e-8612-c567-f9c2-00c607d593c1}">
          <p14:sldIdLst>
            <p14:sldId id="260"/>
          </p14:sldIdLst>
        </p14:section>
        <p14:section name="Конкуренты" id="{35d32197-4f6e-2cca-1a82-af4180319222}">
          <p14:sldIdLst>
            <p14:sldId id="261"/>
          </p14:sldIdLst>
        </p14:section>
        <p14:section name="Схема работы модуля" id="{6a079988-acb9-6974-6c92-8280ae018145}">
          <p14:sldIdLst>
            <p14:sldId id="262"/>
            <p14:sldId id="263"/>
            <p14:sldId id="264"/>
            <p14:sldId id="265"/>
          </p14:sldIdLst>
        </p14:section>
        <p14:section name="Экономическое обоснование" id="{5786949e-7281-4005-ff6c-c751326c0b76}">
          <p14:sldIdLst>
            <p14:sldId id="266"/>
            <p14:sldId id="267"/>
          </p14:sldIdLst>
        </p14:section>
        <p14:section name="Product Canvas" id="{ce1ee8cf-0a9c-f547-8c71-147304543d4f}">
          <p14:sldIdLst>
            <p14:sldId id="268"/>
          </p14:sldIdLst>
        </p14:section>
        <p14:section name="Демо" id="{c87dc6b3-3a16-83dd-0e34-2a67908c35b1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A1F5C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A1F5C"/>
                </a:solidFill>
                <a:latin typeface="+mn-lt"/>
              </a:rPr>
              <a:t>Доходы и расходы на семью в месяц, BYN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BYN на семью в месяц</c:v>
                </c:pt>
              </c:strCache>
            </c:strRef>
          </c:tx>
          <c:spPr>
            <a:solidFill>
              <a:srgbClr val="1E3FD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A1F5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3F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3F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3FD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3FD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4252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4252F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Оборот по картам</c:v>
                  </c:pt>
                  <c:pt idx="1">
                    <c:v>Остатки на счетах</c:v>
                  </c:pt>
                  <c:pt idx="2">
                    <c:v>Плата «Семья+»</c:v>
                  </c:pt>
                  <c:pt idx="3">
                    <c:v>Комиссия партнёров</c:v>
                  </c:pt>
                  <c:pt idx="4">
                    <c:v>Манички (бонусы)</c:v>
                  </c:pt>
                  <c:pt idx="5">
                    <c:v>Обслуживание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3.53</c:v>
                </c:pt>
                <c:pt idx="1">
                  <c:v>2</c:v>
                </c:pt>
                <c:pt idx="2">
                  <c:v>0.98</c:v>
                </c:pt>
                <c:pt idx="3">
                  <c:v>0.86</c:v>
                </c:pt>
                <c:pt idx="4">
                  <c:v>-1.44</c:v>
                </c:pt>
                <c:pt idx="5">
                  <c:v>-1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0A1F5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A1F5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5"/>
          <c:min val="-2.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A1F5C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A1F5C"/>
                </a:solidFill>
                <a:latin typeface="+mn-lt"/>
              </a:rPr>
              <a:t>Накопленный результат с семьи, BYN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Накопленный результат, BYN</c:v>
                </c:pt>
              </c:strCache>
            </c:strRef>
          </c:tx>
          <c:spPr>
            <a:solidFill>
              <a:srgbClr val="1E3FD6"/>
            </a:solidFill>
            <a:ln w="38100" cap="flat">
              <a:solidFill>
                <a:srgbClr val="1E3F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3FD6"/>
              </a:solidFill>
              <a:ln w="9525" cap="flat">
                <a:solidFill>
                  <a:srgbClr val="1E3F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</c:lvl>
              </c:multiLvlStrCache>
            </c:multiLvl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-49.6</c:v>
                </c:pt>
                <c:pt idx="1">
                  <c:v>-44.67</c:v>
                </c:pt>
                <c:pt idx="2">
                  <c:v>-39.74</c:v>
                </c:pt>
                <c:pt idx="3">
                  <c:v>-34.8</c:v>
                </c:pt>
                <c:pt idx="4">
                  <c:v>-29.87</c:v>
                </c:pt>
                <c:pt idx="5">
                  <c:v>-24.94</c:v>
                </c:pt>
                <c:pt idx="6">
                  <c:v>-20.01</c:v>
                </c:pt>
                <c:pt idx="7">
                  <c:v>-15.08</c:v>
                </c:pt>
                <c:pt idx="8">
                  <c:v>-10.14</c:v>
                </c:pt>
                <c:pt idx="9">
                  <c:v>-5.21</c:v>
                </c:pt>
                <c:pt idx="10">
                  <c:v>-0.28</c:v>
                </c:pt>
                <c:pt idx="11">
                  <c:v>4.65</c:v>
                </c:pt>
                <c:pt idx="12">
                  <c:v>9.58</c:v>
                </c:pt>
                <c:pt idx="13">
                  <c:v>14.52</c:v>
                </c:pt>
                <c:pt idx="14">
                  <c:v>19.45</c:v>
                </c:pt>
                <c:pt idx="15">
                  <c:v>24.38</c:v>
                </c:pt>
                <c:pt idx="16">
                  <c:v>29.31</c:v>
                </c:pt>
                <c:pt idx="17">
                  <c:v>34.24</c:v>
                </c:pt>
                <c:pt idx="18">
                  <c:v>39.18</c:v>
                </c:pt>
                <c:pt idx="19">
                  <c:v>44.11</c:v>
                </c:pt>
                <c:pt idx="20">
                  <c:v>49.04</c:v>
                </c:pt>
                <c:pt idx="21">
                  <c:v>53.97</c:v>
                </c:pt>
                <c:pt idx="22">
                  <c:v>58.9</c:v>
                </c:pt>
                <c:pt idx="23">
                  <c:v>63.84</c:v>
                </c:pt>
                <c:pt idx="24">
                  <c:v>68.77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9A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9A"/>
                    </a:solidFill>
                    <a:latin typeface="Arial"/>
                  </a:rPr>
                  <a:t>месяц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9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5E0F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9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сделали рабочий модуль «Семья» внутри Moby: карту ребёнку с 7 лет, родительский контроль и обучение финграмотности через игру. Покажем, как он отвечает на ТЗ, для кого он, чем лучше конкурентов, как работает и почему окупается.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требования ТЗ и как модуль на них отвечает. Правовые рамки: ст. 25 ГК РБ — малолетние до 14 лет совершают мелкие бытовые сделки, ст. 26 — с 14 лет ребёнок распоряжается своим заработком и вкладами. Согласия законного представителя собираются при подключении.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7–13 лет карта оформляется как дополнительная к счёту родителя (ст. 25 ГК РБ). Ребёнок видит, сколько ещё можно потратить сегодня, копит в живой копилке и учится в MobyPlay.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14–17 лет — всё из младшего сценария плюс самостоятельность: свой заработок, платежи и вклад. Уровни «Пути к 18» постепенно расширяют лимиты, в 18 лет карта переоформляется на подростка и клиент остаётся в банке.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Рынок: 1,76 млн детей до 18 лет (Белстат, 01.01.2025) и около 1,1 млн семей с детьми — оценка по переписи 2019 года (2,61 млн семей, 43,7% — с детьми до 18 лет). Цель первого года — 10 тысяч семей, меньше процента рынка; на этом числе построена экономика.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Сравнение с крупнейшими банками по пяти критериям. У конкурентов детская карта — это дополнительная карта к счёту родителя с лимитами. У нас — отдельный опыт для ребёнка: свой вход, обучение, накопления и бонусы.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Ядро модуля принимает решение по каждой покупке ребёнка: проверяет дневной и месячный лимит, категорию и порог подтверждения. Если нужно — отправляет запрос нужному родителю. Партнёры платят кешбэк из маркетингового бюджета, банк зарабатывает на оборотах, остатках и комиссии.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Родитель узнаёт о модуле из экрана «Новое в Moby», за три минуты добавляет ребёнка: возраст определяет правовую модель, дальше карта и разрешения. Потом всё управление — в трёх разделах карточки ребёнка.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Ребёнок входит по коду приглашения или по номеру, платит выбранной картой, копит на мечту — копилка наполняется монетками и разбивается, когда цель набрана. За игры, уроки и покупки получает Манички и меняет их на подарки партнёров.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Подросток пользуется почти взрослым банком: платежи, переводы, вклад и аналитика. Уровни «Пути к 18» предлагают родителю расширить лимиты, а в 18 лет клиент переходит во взрослый Moby вместе с копилками и Маничками.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числа — из калькулятора «Экономика модуля» на демо-стенде, формулы в коде модуля. С семьи банк получает 7,37 BYN в месяц: оборот по картам ребёнка и новые траты родителя, процент на остатки, плату за «Семья+» и комиссию партнёров. Минус Манички и обслуживание — 4,93 BYN. Привлечение с картой и долей разработки окупается за 10,1 месяца.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Линия пересекает ноль на 11-м месяце: с этого момента каждая семья приносит чистую прибыль. Кешбэк недели оплачивает партнёр, «Семья+» бесплатен при тратах семьи от 400 BYN — плата за пакет стимулирует перенести траты в МТБанк, а не основной доход. Все допущения можно менять в калькуляторе на стенде. Чувствительность: при 5 000 семей окупаемость 13 месяцев, при 20 000 — 8,5; если привлечение стоит 50 BYN — 15 месяцев; если за «Семья+» никто не платит — 12,5 месяцев.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Canvas — одним слайдом вся логика продукта: проблема, решение, ценность для каждой стороны, сегменты, каналы, метрики, доходы, расходы и преимущество.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Модуль можно открыть прямо сейчас: QR ведёт на веб-демо, оно работает без сервера в браузере телефона. Есть и Android-приложение. Спасибо! Готовы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онтент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Детско-семейный банкинг в Moby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1732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Детско-семейный банкинг в Moby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9184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Модуль «Семья» для МТБанка: карта ребёнку с 7 лет, контроль родителя и финансовая грамотность в игре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434840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Мухин Захар (барбос)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Мовсик Алексей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Гайдук Никита</a:t>
            </a:r>
            <a:endParaRPr lang="en-US" sz="1500" dirty="0"/>
          </a:p>
        </p:txBody>
      </p:sp>
      <p:sp>
        <p:nvSpPr>
          <p:cNvPr id="5" name="План"/>
          <p:cNvSpPr/>
          <p:nvPr/>
        </p:nvSpPr>
        <p:spPr>
          <a:xfrm>
            <a:off x="7223760" y="1051560"/>
            <a:ext cx="4389120" cy="4754880"/>
          </a:xfrm>
          <a:prstGeom prst="roundRect">
            <a:avLst>
              <a:gd name="adj" fmla="val 3333"/>
            </a:avLst>
          </a:prstGeom>
          <a:solidFill>
            <a:schemeClr val="accent4">
              <a:alpha val="7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0" y="1325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План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589520" y="187452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bg1"/>
                </a:solidFill>
              </a:rPr>
              <a:t>Анализ ТЗ</a:t>
            </a:r>
            <a:endParaRPr lang="en-US" sz="1600" dirty="0"/>
          </a:p>
          <a:p>
            <a:pPr marL="279400" indent="-2794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bg1"/>
                </a:solidFill>
              </a:rPr>
              <a:t>Концепция</a:t>
            </a:r>
            <a:endParaRPr lang="en-US" sz="1600" dirty="0"/>
          </a:p>
          <a:p>
            <a:pPr marL="279400" indent="-2794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bg1"/>
                </a:solidFill>
              </a:rPr>
              <a:t>Целевая аудитория</a:t>
            </a:r>
            <a:endParaRPr lang="en-US" sz="1600" dirty="0"/>
          </a:p>
          <a:p>
            <a:pPr marL="279400" indent="-2794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bg1"/>
                </a:solidFill>
              </a:rPr>
              <a:t>Конкуренты</a:t>
            </a:r>
            <a:endParaRPr lang="en-US" sz="1600" dirty="0"/>
          </a:p>
          <a:p>
            <a:pPr marL="279400" indent="-2794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bg1"/>
                </a:solidFill>
              </a:rPr>
              <a:t>Схема работы модуля</a:t>
            </a:r>
            <a:endParaRPr lang="en-US" sz="1600" dirty="0"/>
          </a:p>
          <a:p>
            <a:pPr marL="279400" indent="-2794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bg1"/>
                </a:solidFill>
              </a:rPr>
              <a:t>Экономическое обоснование</a:t>
            </a:r>
            <a:endParaRPr lang="en-US" sz="1600" dirty="0"/>
          </a:p>
          <a:p>
            <a:pPr marL="279400" indent="-2794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bg1"/>
                </a:solidFill>
              </a:rPr>
              <a:t>Product Canvas</a:t>
            </a:r>
            <a:endParaRPr lang="en-US" sz="1600" dirty="0"/>
          </a:p>
          <a:p>
            <a:pPr marL="279400" indent="-2794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bg1"/>
                </a:solidFill>
              </a:rPr>
              <a:t>Демо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1. </a:t>
            </a:r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Анализ ТЗ</a:t>
            </a:r>
            <a:endParaRPr lang="en-US" sz="3000" dirty="0"/>
          </a:p>
        </p:txBody>
      </p:sp>
      <p:sp>
        <p:nvSpPr>
          <p:cNvPr id="3" name="Цель банка"/>
          <p:cNvSpPr/>
          <p:nvPr/>
        </p:nvSpPr>
        <p:spPr>
          <a:xfrm>
            <a:off x="548640" y="1280160"/>
            <a:ext cx="3515258" cy="4160520"/>
          </a:xfrm>
          <a:prstGeom prst="roundRect">
            <a:avLst>
              <a:gd name="adj" fmla="val 3642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5C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554480"/>
            <a:ext cx="566928" cy="56692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1690543"/>
            <a:ext cx="294803" cy="294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240280"/>
            <a:ext cx="2966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Цель банка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5176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Привлечь семьи с детьми, увеличить обороты и остатки по картам, вырастить будущего взрослого клиента.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70332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Как решаем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005072"/>
            <a:ext cx="296661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Карты ребёнка и родителя в МТБанке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Копилки и вклад держат остатки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В 18 лет — переход во взрослый Moby</a:t>
            </a:r>
            <a:endParaRPr lang="en-US" sz="1400" dirty="0"/>
          </a:p>
        </p:txBody>
      </p:sp>
      <p:sp>
        <p:nvSpPr>
          <p:cNvPr id="10" name="Цель семьи"/>
          <p:cNvSpPr/>
          <p:nvPr/>
        </p:nvSpPr>
        <p:spPr>
          <a:xfrm>
            <a:off x="4338218" y="1280160"/>
            <a:ext cx="3515258" cy="4160520"/>
          </a:xfrm>
          <a:prstGeom prst="roundRect">
            <a:avLst>
              <a:gd name="adj" fmla="val 3642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5C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2538" y="1554480"/>
            <a:ext cx="566928" cy="56692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601" y="1690543"/>
            <a:ext cx="294803" cy="29480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12538" y="2240280"/>
            <a:ext cx="2966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Цель семьи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4612538" y="265176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Простой и безопасный способ научить ребёнка обращаться с деньгами.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612538" y="370332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Как решаем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4612538" y="4005072"/>
            <a:ext cx="296661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Лимиты, категории, подтверждение покупок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Карманные деньги и задания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Игры и уроки в MobyPlay</a:t>
            </a:r>
            <a:endParaRPr lang="en-US" sz="1400" dirty="0"/>
          </a:p>
        </p:txBody>
      </p:sp>
      <p:sp>
        <p:nvSpPr>
          <p:cNvPr id="17" name="Рамки"/>
          <p:cNvSpPr/>
          <p:nvPr/>
        </p:nvSpPr>
        <p:spPr>
          <a:xfrm>
            <a:off x="8127797" y="1280160"/>
            <a:ext cx="3515258" cy="4160520"/>
          </a:xfrm>
          <a:prstGeom prst="roundRect">
            <a:avLst>
              <a:gd name="adj" fmla="val 3642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5C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02117" y="1554480"/>
            <a:ext cx="566928" cy="56692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8180" y="1690543"/>
            <a:ext cx="294803" cy="294803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402117" y="2240280"/>
            <a:ext cx="2966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Рамки</a:t>
            </a:r>
            <a:endParaRPr lang="en-US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8402117" y="265176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Законодательство РБ, своё решение без плагиата, два возраста: 7–13 и 14–17 лет.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8402117" y="370332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Как решаем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8402117" y="4005072"/>
            <a:ext cx="296661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Ст. 25–26 ГК РБ: права малолетних и 14–17 лет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Закон № 99-З: согласия законного представителя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18+ и азартные игры закрыты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548640" y="5605272"/>
            <a:ext cx="11094415" cy="54864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822960" y="5605272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Сдаём: Pitch Deck · Product Canvas · Экономическое обоснование · рабочий модуль (веб-демо и Android-приложение)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2.1 </a:t>
            </a:r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Концепция: 7–13 лет</a:t>
            </a:r>
            <a:endParaRPr lang="en-US" sz="3000" dirty="0"/>
          </a:p>
        </p:txBody>
      </p:sp>
      <p:sp>
        <p:nvSpPr>
          <p:cNvPr id="3" name="Концепция"/>
          <p:cNvSpPr/>
          <p:nvPr/>
        </p:nvSpPr>
        <p:spPr>
          <a:xfrm>
            <a:off x="548640" y="1280160"/>
            <a:ext cx="6080760" cy="4846320"/>
          </a:xfrm>
          <a:prstGeom prst="roundRect">
            <a:avLst>
              <a:gd name="adj" fmla="val 2642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5C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572768"/>
            <a:ext cx="118872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5727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7–13 лет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94560" y="1572768"/>
            <a:ext cx="1280160" cy="38404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94560" y="15727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14–17 лет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176272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Первая карта под присмотром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43200"/>
            <a:ext cx="54406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Карта с 7 лет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— стикер, браслет или пластик, виртуальная — сразу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Свой вход в Moby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— лимиты, категории и подтверждение покупок от родителя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Карманные деньги и задания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— начисляются по понедельникам, награда за дела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Мега-копилка на мечту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— родители добавляют 10%, сдача с покупок падает в копилку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MobyPlay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— игры, уроки финграмотности и уровни самостоятельности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Манички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— бонусы с покупок и игр → подарки партнёров или деньги</a:t>
            </a:r>
            <a:endParaRPr lang="en-US" sz="1400" dirty="0"/>
          </a:p>
        </p:txBody>
      </p:sp>
      <p:pic>
        <p:nvPicPr>
          <p:cNvPr id="10" name="Image 0" descr="Экран модуля «Семья» в Mob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234440"/>
            <a:ext cx="2278966" cy="4937760"/>
          </a:xfrm>
          <a:prstGeom prst="rect">
            <a:avLst/>
          </a:prstGeom>
        </p:spPr>
      </p:pic>
      <p:pic>
        <p:nvPicPr>
          <p:cNvPr id="11" name="Image 1" descr="Экран модуля «Семья» в Mob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1286" y="1234440"/>
            <a:ext cx="2278966" cy="4937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2.2 </a:t>
            </a:r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Концепция: 14–17 лет</a:t>
            </a:r>
            <a:endParaRPr lang="en-US" sz="3000" dirty="0"/>
          </a:p>
        </p:txBody>
      </p:sp>
      <p:sp>
        <p:nvSpPr>
          <p:cNvPr id="3" name="Концепция"/>
          <p:cNvSpPr/>
          <p:nvPr/>
        </p:nvSpPr>
        <p:spPr>
          <a:xfrm>
            <a:off x="548640" y="1280160"/>
            <a:ext cx="6080760" cy="4846320"/>
          </a:xfrm>
          <a:prstGeom prst="roundRect">
            <a:avLst>
              <a:gd name="adj" fmla="val 2642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5C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572768"/>
            <a:ext cx="1188720" cy="38404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5727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7–13 лет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94560" y="1572768"/>
            <a:ext cx="128016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94560" y="15727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14–17 лет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176272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Больше свободы, шаг к взрослому Moby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43200"/>
            <a:ext cx="54406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Своя карта и вход по номеру телефона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— подросток может сам попроситься в семью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Заработок отдельно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— родитель не может его списать (ст. 26 ГК РБ)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Платежи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— QR КРОК, ЕРИП, переводы по номеру карты и телефона, подписки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Вклад, копилки и аналитика трат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— видно, куда ушли деньги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«Путь к 18»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— 5 уровней самостоятельности, в 18 — взрослый Moby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«Трать меньше — получай скидку»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— до 20% в месяц у партнёров</a:t>
            </a:r>
            <a:endParaRPr lang="en-US" sz="1400" dirty="0"/>
          </a:p>
        </p:txBody>
      </p:sp>
      <p:pic>
        <p:nvPicPr>
          <p:cNvPr id="10" name="Image 0" descr="Экран модуля «Семья» в Mob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234440"/>
            <a:ext cx="2278966" cy="4937760"/>
          </a:xfrm>
          <a:prstGeom prst="rect">
            <a:avLst/>
          </a:prstGeom>
        </p:spPr>
      </p:pic>
      <p:pic>
        <p:nvPicPr>
          <p:cNvPr id="11" name="Image 1" descr="Экран модуля «Семья» в Mob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1286" y="1234440"/>
            <a:ext cx="2278966" cy="4937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3. </a:t>
            </a:r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Целевая аудитория</a:t>
            </a:r>
            <a:endParaRPr lang="en-US" sz="3000" dirty="0"/>
          </a:p>
        </p:txBody>
      </p:sp>
      <p:sp>
        <p:nvSpPr>
          <p:cNvPr id="3" name="Родители 30–60 лет"/>
          <p:cNvSpPr/>
          <p:nvPr/>
        </p:nvSpPr>
        <p:spPr>
          <a:xfrm>
            <a:off x="548640" y="1280160"/>
            <a:ext cx="3515258" cy="2788920"/>
          </a:xfrm>
          <a:prstGeom prst="roundRect">
            <a:avLst>
              <a:gd name="adj" fmla="val 459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5C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55448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68615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554480"/>
            <a:ext cx="2372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Родители 30–60 лет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04288"/>
            <a:ext cx="296661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Хотят научить ребёнка распоряжаться деньгами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Не всегда есть время следить за тратами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Нужны контроль и спокойствие</a:t>
            </a:r>
            <a:endParaRPr lang="en-US" sz="1400" dirty="0"/>
          </a:p>
        </p:txBody>
      </p:sp>
      <p:sp>
        <p:nvSpPr>
          <p:cNvPr id="8" name="Дети 7–13 лет"/>
          <p:cNvSpPr/>
          <p:nvPr/>
        </p:nvSpPr>
        <p:spPr>
          <a:xfrm>
            <a:off x="4338218" y="1280160"/>
            <a:ext cx="3515258" cy="2788920"/>
          </a:xfrm>
          <a:prstGeom prst="roundRect">
            <a:avLst>
              <a:gd name="adj" fmla="val 459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5C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12538" y="155448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212" y="168615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98338" y="1554480"/>
            <a:ext cx="2372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Дети 7–13 лет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2304288"/>
            <a:ext cx="296661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Тратят в школьной столовой, буфете и магазине у дома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Не хотят думать о тратах — им нужна игра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Копят на мечту: самокат, конструктор</a:t>
            </a:r>
            <a:endParaRPr lang="en-US" sz="1400" dirty="0"/>
          </a:p>
        </p:txBody>
      </p:sp>
      <p:sp>
        <p:nvSpPr>
          <p:cNvPr id="13" name="Подростки 14–17 лет"/>
          <p:cNvSpPr/>
          <p:nvPr/>
        </p:nvSpPr>
        <p:spPr>
          <a:xfrm>
            <a:off x="8127797" y="1280160"/>
            <a:ext cx="3515258" cy="2788920"/>
          </a:xfrm>
          <a:prstGeom prst="roundRect">
            <a:avLst>
              <a:gd name="adj" fmla="val 459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5C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402117" y="155448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790" y="168615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87917" y="1554480"/>
            <a:ext cx="2372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Подростки 14–17 лет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2304288"/>
            <a:ext cx="296661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Школьники, студенты колледжей, геймеры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Шопинг, встречи с друзьями, первые подработки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Главная боль — «куда ушли мои деньги?»</a:t>
            </a:r>
            <a:endParaRPr lang="en-US" sz="1400" dirty="0"/>
          </a:p>
        </p:txBody>
      </p:sp>
      <p:sp>
        <p:nvSpPr>
          <p:cNvPr id="18" name="1,76 млн"/>
          <p:cNvSpPr/>
          <p:nvPr/>
        </p:nvSpPr>
        <p:spPr>
          <a:xfrm>
            <a:off x="548640" y="4297680"/>
            <a:ext cx="3515258" cy="1828800"/>
          </a:xfrm>
          <a:prstGeom prst="roundRect">
            <a:avLst>
              <a:gd name="adj" fmla="val 7000"/>
            </a:avLst>
          </a:prstGeom>
          <a:solidFill>
            <a:schemeClr val="accent6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22960" y="4553712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1,76 млн</a:t>
            </a:r>
            <a:endParaRPr lang="en-US" sz="3200" dirty="0"/>
          </a:p>
        </p:txBody>
      </p:sp>
      <p:sp>
        <p:nvSpPr>
          <p:cNvPr id="20" name="Text 15"/>
          <p:cNvSpPr txBox="1"/>
          <p:nvPr/>
        </p:nvSpPr>
        <p:spPr>
          <a:xfrm>
            <a:off x="822960" y="521208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детей до 18 лет — 19,4% населения (Белстат, на 01.01.2025)</a:t>
            </a:r>
            <a:endParaRPr lang="en-US" sz="1300" dirty="0"/>
          </a:p>
        </p:txBody>
      </p:sp>
      <p:sp>
        <p:nvSpPr>
          <p:cNvPr id="21" name="≈1,1 млн"/>
          <p:cNvSpPr/>
          <p:nvPr/>
        </p:nvSpPr>
        <p:spPr>
          <a:xfrm>
            <a:off x="4338218" y="4297680"/>
            <a:ext cx="3515258" cy="1828800"/>
          </a:xfrm>
          <a:prstGeom prst="roundRect">
            <a:avLst>
              <a:gd name="adj" fmla="val 7000"/>
            </a:avLst>
          </a:prstGeom>
          <a:solidFill>
            <a:schemeClr val="accent6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4612538" y="4553712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≈1,1 млн</a:t>
            </a:r>
            <a:endParaRPr lang="en-US" sz="3200" dirty="0"/>
          </a:p>
        </p:txBody>
      </p:sp>
      <p:sp>
        <p:nvSpPr>
          <p:cNvPr id="23" name="Text 18"/>
          <p:cNvSpPr txBox="1"/>
          <p:nvPr/>
        </p:nvSpPr>
        <p:spPr>
          <a:xfrm>
            <a:off x="4612538" y="521208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семей с детьми до 18 лет (оценка по переписи 2019: 43,7% семей)</a:t>
            </a:r>
            <a:endParaRPr lang="en-US" sz="1300" dirty="0"/>
          </a:p>
        </p:txBody>
      </p:sp>
      <p:sp>
        <p:nvSpPr>
          <p:cNvPr id="24" name="10 тыс."/>
          <p:cNvSpPr/>
          <p:nvPr/>
        </p:nvSpPr>
        <p:spPr>
          <a:xfrm>
            <a:off x="8127797" y="4297680"/>
            <a:ext cx="3515258" cy="1828800"/>
          </a:xfrm>
          <a:prstGeom prst="roundRect">
            <a:avLst>
              <a:gd name="adj" fmla="val 7000"/>
            </a:avLst>
          </a:prstGeom>
          <a:solidFill>
            <a:schemeClr val="accent6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8402117" y="4553712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10 тыс.</a:t>
            </a:r>
            <a:endParaRPr lang="en-US" sz="3200" dirty="0"/>
          </a:p>
        </p:txBody>
      </p:sp>
      <p:sp>
        <p:nvSpPr>
          <p:cNvPr id="26" name="Text 21"/>
          <p:cNvSpPr txBox="1"/>
          <p:nvPr/>
        </p:nvSpPr>
        <p:spPr>
          <a:xfrm>
            <a:off x="8402117" y="521208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семей — цель первого года, меньше 1% семей с детьми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4. </a:t>
            </a:r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Конкуренты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2697480"/>
                <a:gridCol w="2697480"/>
                <a:gridCol w="34564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Критерий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Беларусбанк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Альфа-Банк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МТБанк: Moby «Семья»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Карта для ребёнка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БЕЛКАРТ «Детская» для 6–18 лет, дополнительная к счёту родителя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Карта ребёнку в «Пакете решений», к счёту родителя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С 7 лет: стикер, браслет или пластик и виртуальная; с 14 лет — своя карта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Родительский контроль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Лимиты по операциям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Лимиты на снятие и расходы в приложении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Лимиты, категории, подтверждение покупок; 18+ и азартные игры закрыты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Геймификация и обучение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Нет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Нет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MobyPlay: игры, уроки, уровни «Путь к 18»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Партнёрские бонусы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Для детских карт нет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Бонусы в пакетах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Кешбэк недели 5–10%, Манички → подарки партнёров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Накопления на цель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Для детских карт нет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Для детских карт нет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Мега-копилка, вклад, скидка до 20% за экономию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605272"/>
            <a:ext cx="11094415" cy="54864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5605272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Отличие: детский опыт встроен в Moby — не отдельное приложение, а два возрастных сценария с игрой и выгодой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5. </a:t>
            </a:r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Схема работы модуля</a:t>
            </a:r>
            <a:endParaRPr lang="en-US" sz="3000" dirty="0"/>
          </a:p>
        </p:txBody>
      </p:sp>
      <p:sp>
        <p:nvSpPr>
          <p:cNvPr id="3" name="Родитель"/>
          <p:cNvSpPr/>
          <p:nvPr/>
        </p:nvSpPr>
        <p:spPr>
          <a:xfrm>
            <a:off x="548640" y="1325880"/>
            <a:ext cx="2880360" cy="310896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5C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581912"/>
            <a:ext cx="530352" cy="530352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956" y="1709196"/>
            <a:ext cx="275783" cy="27578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581912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Родитель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04672" y="2331720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Задаёт лимиты, категории и порог подтверждения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Пополняет: карманные, задания, переводы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Отвечает на запросы ребёнка</a:t>
            </a:r>
            <a:endParaRPr lang="en-US" sz="1400" dirty="0"/>
          </a:p>
        </p:txBody>
      </p:sp>
      <p:sp>
        <p:nvSpPr>
          <p:cNvPr id="8" name="Moby «Семья»"/>
          <p:cNvSpPr/>
          <p:nvPr/>
        </p:nvSpPr>
        <p:spPr>
          <a:xfrm>
            <a:off x="4655668" y="1325880"/>
            <a:ext cx="2880360" cy="3108960"/>
          </a:xfrm>
          <a:prstGeom prst="roundRect">
            <a:avLst>
              <a:gd name="adj" fmla="val 4444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5C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911700" y="1581912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984" y="1709196"/>
            <a:ext cx="275783" cy="27578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70068" y="1581912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Moby «Семья»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911700" y="2331720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Решение по каждой покупке: лимит, категория, порог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Запросы и уведомления в реальном времени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Манички, уровни, копилки</a:t>
            </a:r>
            <a:endParaRPr lang="en-US" sz="1400" dirty="0"/>
          </a:p>
        </p:txBody>
      </p:sp>
      <p:sp>
        <p:nvSpPr>
          <p:cNvPr id="13" name="Ребёнок"/>
          <p:cNvSpPr/>
          <p:nvPr/>
        </p:nvSpPr>
        <p:spPr>
          <a:xfrm>
            <a:off x="8762695" y="1325880"/>
            <a:ext cx="2880360" cy="310896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5C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018727" y="1581912"/>
            <a:ext cx="530352" cy="530352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6012" y="1709196"/>
            <a:ext cx="275783" cy="27578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677095" y="1581912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Ребёнок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9018727" y="2331720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Платит картой или по QR КРОК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Просит деньги у конкретного родителя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Копит, играет, учится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3502152" y="2514600"/>
            <a:ext cx="108036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9" name="Text 14"/>
          <p:cNvSpPr txBox="1"/>
          <p:nvPr/>
        </p:nvSpPr>
        <p:spPr>
          <a:xfrm>
            <a:off x="3502152" y="2011680"/>
            <a:ext cx="10803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правила и деньги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502152" y="3246120"/>
            <a:ext cx="108036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headEnd type="triangle"/>
          </a:ln>
        </p:spPr>
      </p:sp>
      <p:sp>
        <p:nvSpPr>
          <p:cNvPr id="21" name="Text 16"/>
          <p:cNvSpPr txBox="1"/>
          <p:nvPr/>
        </p:nvSpPr>
        <p:spPr>
          <a:xfrm>
            <a:off x="3502152" y="3337560"/>
            <a:ext cx="10803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запросы и траты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609180" y="2514600"/>
            <a:ext cx="108036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headEnd type="triangle"/>
          </a:ln>
        </p:spPr>
      </p:sp>
      <p:sp>
        <p:nvSpPr>
          <p:cNvPr id="23" name="Text 18"/>
          <p:cNvSpPr txBox="1"/>
          <p:nvPr/>
        </p:nvSpPr>
        <p:spPr>
          <a:xfrm>
            <a:off x="7609180" y="2011680"/>
            <a:ext cx="10803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покупки и запросы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609180" y="3246120"/>
            <a:ext cx="108036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5" name="Text 20"/>
          <p:cNvSpPr txBox="1"/>
          <p:nvPr/>
        </p:nvSpPr>
        <p:spPr>
          <a:xfrm>
            <a:off x="7609180" y="3337560"/>
            <a:ext cx="10803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решение и награды</a:t>
            </a:r>
            <a:endParaRPr lang="en-US" sz="1100" dirty="0"/>
          </a:p>
        </p:txBody>
      </p:sp>
      <p:sp>
        <p:nvSpPr>
          <p:cNvPr id="26" name="МТБанк"/>
          <p:cNvSpPr/>
          <p:nvPr/>
        </p:nvSpPr>
        <p:spPr>
          <a:xfrm>
            <a:off x="548640" y="4754880"/>
            <a:ext cx="2880360" cy="1371600"/>
          </a:xfrm>
          <a:prstGeom prst="roundRect">
            <a:avLst>
              <a:gd name="adj" fmla="val 9333"/>
            </a:avLst>
          </a:prstGeom>
          <a:solidFill>
            <a:schemeClr val="accent6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77240" y="4983480"/>
            <a:ext cx="457200" cy="457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5093208"/>
            <a:ext cx="237744" cy="237744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353312" y="49834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МТБанк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777240" y="54864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Обороты по картам, остатки, комиссия партнёров</a:t>
            </a:r>
            <a:endParaRPr lang="en-US" sz="1200" dirty="0"/>
          </a:p>
        </p:txBody>
      </p:sp>
      <p:sp>
        <p:nvSpPr>
          <p:cNvPr id="31" name="Партнёры"/>
          <p:cNvSpPr/>
          <p:nvPr/>
        </p:nvSpPr>
        <p:spPr>
          <a:xfrm>
            <a:off x="4655668" y="4754880"/>
            <a:ext cx="2880360" cy="1371600"/>
          </a:xfrm>
          <a:prstGeom prst="roundRect">
            <a:avLst>
              <a:gd name="adj" fmla="val 9333"/>
            </a:avLst>
          </a:prstGeom>
          <a:solidFill>
            <a:schemeClr val="accent6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4884268" y="4983480"/>
            <a:ext cx="457200" cy="457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3996" y="5093208"/>
            <a:ext cx="237744" cy="237744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5460340" y="49834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Партнёры</a:t>
            </a:r>
            <a:endParaRPr lang="en-US" sz="1500" dirty="0"/>
          </a:p>
        </p:txBody>
      </p:sp>
      <p:sp>
        <p:nvSpPr>
          <p:cNvPr id="35" name="Text 28"/>
          <p:cNvSpPr txBox="1"/>
          <p:nvPr/>
        </p:nvSpPr>
        <p:spPr>
          <a:xfrm>
            <a:off x="4884268" y="54864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Кешбэк недели, купоны за Манички, скидка до 20%</a:t>
            </a:r>
            <a:endParaRPr lang="en-US" sz="1200" dirty="0"/>
          </a:p>
        </p:txBody>
      </p:sp>
      <p:sp>
        <p:nvSpPr>
          <p:cNvPr id="36" name="Безопасность"/>
          <p:cNvSpPr/>
          <p:nvPr/>
        </p:nvSpPr>
        <p:spPr>
          <a:xfrm>
            <a:off x="8762695" y="4754880"/>
            <a:ext cx="2880360" cy="1371600"/>
          </a:xfrm>
          <a:prstGeom prst="roundRect">
            <a:avLst>
              <a:gd name="adj" fmla="val 9333"/>
            </a:avLst>
          </a:prstGeom>
          <a:solidFill>
            <a:schemeClr val="accent6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8991295" y="4983480"/>
            <a:ext cx="457200" cy="457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1023" y="5093208"/>
            <a:ext cx="237744" cy="237744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9567367" y="49834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Безопасность</a:t>
            </a:r>
            <a:endParaRPr lang="en-US" sz="1500" dirty="0"/>
          </a:p>
        </p:txBody>
      </p:sp>
      <p:sp>
        <p:nvSpPr>
          <p:cNvPr id="40" name="Text 32"/>
          <p:cNvSpPr txBox="1"/>
          <p:nvPr/>
        </p:nvSpPr>
        <p:spPr>
          <a:xfrm>
            <a:off x="8991295" y="54864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18+ и азартные игры закрыты, крупные покупки — с подтверждением</a:t>
            </a:r>
            <a:endParaRPr lang="en-US" sz="1200" dirty="0"/>
          </a:p>
        </p:txBody>
      </p:sp>
      <p:sp>
        <p:nvSpPr>
          <p:cNvPr id="41" name="Shape 33"/>
          <p:cNvSpPr/>
          <p:nvPr/>
        </p:nvSpPr>
        <p:spPr>
          <a:xfrm>
            <a:off x="6095848" y="4480560"/>
            <a:ext cx="0" cy="22860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5. </a:t>
            </a:r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Схема работы: путь родителя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435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1188720"/>
            <a:ext cx="15824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Узнаёт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1463040"/>
            <a:ext cx="15824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«Новое в Moby: Семья»</a:t>
            </a:r>
            <a:endParaRPr lang="en-US" sz="1100" dirty="0"/>
          </a:p>
        </p:txBody>
      </p:sp>
      <p:pic>
        <p:nvPicPr>
          <p:cNvPr id="7" name="Image 0" descr="Экран модуля «Семья» в Mob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622" y="1847088"/>
            <a:ext cx="1991985" cy="43159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807757" y="12435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807757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283245" y="1188720"/>
            <a:ext cx="15824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Добавляет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283245" y="1463040"/>
            <a:ext cx="15824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имя и возраст ребёнка</a:t>
            </a:r>
            <a:endParaRPr lang="en-US" sz="1100" dirty="0"/>
          </a:p>
        </p:txBody>
      </p:sp>
      <p:pic>
        <p:nvPicPr>
          <p:cNvPr id="12" name="Image 1" descr="Экран модуля «Семья» в Mob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0738" y="1847088"/>
            <a:ext cx="1991985" cy="431596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066873" y="12435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066873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542361" y="1188720"/>
            <a:ext cx="15824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Выпускает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5542361" y="1463040"/>
            <a:ext cx="15824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карту и её цвет</a:t>
            </a:r>
            <a:endParaRPr lang="en-US" sz="1100" dirty="0"/>
          </a:p>
        </p:txBody>
      </p:sp>
      <p:pic>
        <p:nvPicPr>
          <p:cNvPr id="17" name="Image 2" descr="Экран модуля «Семья» в Mob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9855" y="1847088"/>
            <a:ext cx="1991985" cy="431596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7325990" y="12435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325990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7801478" y="1188720"/>
            <a:ext cx="15824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Настраивает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7801478" y="1463040"/>
            <a:ext cx="15824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режим и разрешения</a:t>
            </a:r>
            <a:endParaRPr lang="en-US" sz="1100" dirty="0"/>
          </a:p>
        </p:txBody>
      </p:sp>
      <p:pic>
        <p:nvPicPr>
          <p:cNvPr id="22" name="Image 3" descr="Экран модуля «Семья» в Mob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8972" y="1847088"/>
            <a:ext cx="1991985" cy="4315968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9585107" y="12435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9585107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10060595" y="1188720"/>
            <a:ext cx="15824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Управляет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10060595" y="1463040"/>
            <a:ext cx="15824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3 раздела настроек</a:t>
            </a:r>
            <a:endParaRPr lang="en-US" sz="1100" dirty="0"/>
          </a:p>
        </p:txBody>
      </p:sp>
      <p:pic>
        <p:nvPicPr>
          <p:cNvPr id="27" name="Image 4" descr="Экран модуля «Семья» в Mob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8088" y="1847088"/>
            <a:ext cx="1991985" cy="431596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5. </a:t>
            </a:r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Схема работы: путь ребёнка 7–13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435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1188720"/>
            <a:ext cx="15824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Входит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1463040"/>
            <a:ext cx="15824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видит лимит на сегодня</a:t>
            </a:r>
            <a:endParaRPr lang="en-US" sz="1100" dirty="0"/>
          </a:p>
        </p:txBody>
      </p:sp>
      <p:pic>
        <p:nvPicPr>
          <p:cNvPr id="7" name="Image 0" descr="Экран модуля «Семья» в Mob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622" y="1847088"/>
            <a:ext cx="1991985" cy="43159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807757" y="12435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807757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283245" y="1188720"/>
            <a:ext cx="15824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Платит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283245" y="1463040"/>
            <a:ext cx="15824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выбирает карту</a:t>
            </a:r>
            <a:endParaRPr lang="en-US" sz="1100" dirty="0"/>
          </a:p>
        </p:txBody>
      </p:sp>
      <p:pic>
        <p:nvPicPr>
          <p:cNvPr id="12" name="Image 1" descr="Экран модуля «Семья» в Mob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0738" y="1847088"/>
            <a:ext cx="1991985" cy="431596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066873" y="12435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066873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542361" y="1188720"/>
            <a:ext cx="15824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Копит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5542361" y="1463040"/>
            <a:ext cx="15824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мега-копилка на мечту</a:t>
            </a:r>
            <a:endParaRPr lang="en-US" sz="1100" dirty="0"/>
          </a:p>
        </p:txBody>
      </p:sp>
      <p:pic>
        <p:nvPicPr>
          <p:cNvPr id="17" name="Image 2" descr="Экран модуля «Семья» в Mob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9855" y="1847088"/>
            <a:ext cx="1991985" cy="431596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7325990" y="12435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325990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7801478" y="1188720"/>
            <a:ext cx="15824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Играет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7801478" y="1463040"/>
            <a:ext cx="15824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игры и уроки</a:t>
            </a:r>
            <a:endParaRPr lang="en-US" sz="1100" dirty="0"/>
          </a:p>
        </p:txBody>
      </p:sp>
      <p:pic>
        <p:nvPicPr>
          <p:cNvPr id="22" name="Image 3" descr="Экран модуля «Семья» в Mob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8972" y="1847088"/>
            <a:ext cx="1991985" cy="4315968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9585107" y="12435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9585107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10060595" y="1188720"/>
            <a:ext cx="15824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Получает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10060595" y="1463040"/>
            <a:ext cx="15824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Манички → подарки</a:t>
            </a:r>
            <a:endParaRPr lang="en-US" sz="1100" dirty="0"/>
          </a:p>
        </p:txBody>
      </p:sp>
      <p:pic>
        <p:nvPicPr>
          <p:cNvPr id="27" name="Image 4" descr="Экран модуля «Семья» в Mob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8088" y="1847088"/>
            <a:ext cx="1991985" cy="431596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5. </a:t>
            </a:r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Схема работы: путь подростка 14–17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435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1188720"/>
            <a:ext cx="15824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Входит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1463040"/>
            <a:ext cx="15824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по номеру телефона</a:t>
            </a:r>
            <a:endParaRPr lang="en-US" sz="1100" dirty="0"/>
          </a:p>
        </p:txBody>
      </p:sp>
      <p:pic>
        <p:nvPicPr>
          <p:cNvPr id="7" name="Image 0" descr="Экран модуля «Семья» в Mob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622" y="1847088"/>
            <a:ext cx="1991985" cy="43159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807757" y="12435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807757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283245" y="1188720"/>
            <a:ext cx="15824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Платит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283245" y="1463040"/>
            <a:ext cx="15824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QR КРОК и ЕРИП</a:t>
            </a:r>
            <a:endParaRPr lang="en-US" sz="1100" dirty="0"/>
          </a:p>
        </p:txBody>
      </p:sp>
      <p:pic>
        <p:nvPicPr>
          <p:cNvPr id="12" name="Image 1" descr="Экран модуля «Семья» в Mob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0738" y="1847088"/>
            <a:ext cx="1991985" cy="431596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066873" y="12435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066873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542361" y="1188720"/>
            <a:ext cx="15824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Копит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5542361" y="1463040"/>
            <a:ext cx="15824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копилки и вклад</a:t>
            </a:r>
            <a:endParaRPr lang="en-US" sz="1100" dirty="0"/>
          </a:p>
        </p:txBody>
      </p:sp>
      <p:pic>
        <p:nvPicPr>
          <p:cNvPr id="17" name="Image 2" descr="Экран модуля «Семья» в Mob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9855" y="1847088"/>
            <a:ext cx="1991985" cy="431596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7325990" y="12435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325990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7801478" y="1188720"/>
            <a:ext cx="15824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Анализирует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7801478" y="1463040"/>
            <a:ext cx="15824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траты по категориям</a:t>
            </a:r>
            <a:endParaRPr lang="en-US" sz="1100" dirty="0"/>
          </a:p>
        </p:txBody>
      </p:sp>
      <p:pic>
        <p:nvPicPr>
          <p:cNvPr id="22" name="Image 3" descr="Экран модуля «Семья» в Mob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8972" y="1847088"/>
            <a:ext cx="1991985" cy="4315968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9585107" y="12435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9585107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10060595" y="1188720"/>
            <a:ext cx="15824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Растёт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10060595" y="1463040"/>
            <a:ext cx="15824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уровни до 18 лет</a:t>
            </a:r>
            <a:endParaRPr lang="en-US" sz="1100" dirty="0"/>
          </a:p>
        </p:txBody>
      </p:sp>
      <p:pic>
        <p:nvPicPr>
          <p:cNvPr id="27" name="Image 4" descr="Экран модуля «Семья» в Mob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8088" y="1847088"/>
            <a:ext cx="1991985" cy="431596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6. </a:t>
            </a:r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Экономическое обоснование</a:t>
            </a:r>
            <a:endParaRPr lang="en-US" sz="3000" dirty="0"/>
          </a:p>
        </p:txBody>
      </p:sp>
      <p:sp>
        <p:nvSpPr>
          <p:cNvPr id="3" name="окупаемость семьи с учётом разработки"/>
          <p:cNvSpPr/>
          <p:nvPr/>
        </p:nvSpPr>
        <p:spPr>
          <a:xfrm>
            <a:off x="548640" y="1280160"/>
            <a:ext cx="2567864" cy="1188720"/>
          </a:xfrm>
          <a:prstGeom prst="roundRect">
            <a:avLst>
              <a:gd name="adj" fmla="val 10769"/>
            </a:avLst>
          </a:prstGeom>
          <a:solidFill>
            <a:schemeClr val="accent6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89888"/>
            <a:ext cx="2110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10,1 мес.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38528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окупаемость семьи с учётом разработки</a:t>
            </a:r>
            <a:endParaRPr lang="en-US" sz="1200" dirty="0"/>
          </a:p>
        </p:txBody>
      </p:sp>
      <p:sp>
        <p:nvSpPr>
          <p:cNvPr id="6" name="прибыль с семьи в месяц"/>
          <p:cNvSpPr/>
          <p:nvPr/>
        </p:nvSpPr>
        <p:spPr>
          <a:xfrm>
            <a:off x="3390824" y="1280160"/>
            <a:ext cx="2567864" cy="1188720"/>
          </a:xfrm>
          <a:prstGeom prst="roundRect">
            <a:avLst>
              <a:gd name="adj" fmla="val 10769"/>
            </a:avLst>
          </a:prstGeom>
          <a:solidFill>
            <a:schemeClr val="accent6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19424" y="1389888"/>
            <a:ext cx="2110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4,93 BYN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3619424" y="1938528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прибыль с семьи в месяц</a:t>
            </a:r>
            <a:endParaRPr lang="en-US" sz="1200" dirty="0"/>
          </a:p>
        </p:txBody>
      </p:sp>
      <p:sp>
        <p:nvSpPr>
          <p:cNvPr id="9" name="привлечение семьи с картой"/>
          <p:cNvSpPr/>
          <p:nvPr/>
        </p:nvSpPr>
        <p:spPr>
          <a:xfrm>
            <a:off x="6233008" y="1280160"/>
            <a:ext cx="2567864" cy="1188720"/>
          </a:xfrm>
          <a:prstGeom prst="roundRect">
            <a:avLst>
              <a:gd name="adj" fmla="val 10769"/>
            </a:avLst>
          </a:prstGeom>
          <a:solidFill>
            <a:schemeClr val="accent6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61608" y="1389888"/>
            <a:ext cx="2110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34,60 BYN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461608" y="1938528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привлечение семьи с картой</a:t>
            </a:r>
            <a:endParaRPr lang="en-US" sz="1200" dirty="0"/>
          </a:p>
        </p:txBody>
      </p:sp>
      <p:sp>
        <p:nvSpPr>
          <p:cNvPr id="12" name="результат первого года на 10 тыс. семей"/>
          <p:cNvSpPr/>
          <p:nvPr/>
        </p:nvSpPr>
        <p:spPr>
          <a:xfrm>
            <a:off x="9075191" y="1280160"/>
            <a:ext cx="2567864" cy="1188720"/>
          </a:xfrm>
          <a:prstGeom prst="roundRect">
            <a:avLst>
              <a:gd name="adj" fmla="val 10769"/>
            </a:avLst>
          </a:prstGeom>
          <a:solidFill>
            <a:schemeClr val="accent6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03791" y="1389888"/>
            <a:ext cx="2110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96 тыс. BYN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9303791" y="1938528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результат первого года на 10 тыс. семей</a:t>
            </a:r>
            <a:endParaRPr lang="en-US" sz="1200" dirty="0"/>
          </a:p>
        </p:txBody>
      </p:sp>
      <p:sp>
        <p:nvSpPr>
          <p:cNvPr id="15" name="График доходов и расходов"/>
          <p:cNvSpPr/>
          <p:nvPr/>
        </p:nvSpPr>
        <p:spPr>
          <a:xfrm>
            <a:off x="548640" y="2697480"/>
            <a:ext cx="5577840" cy="3429000"/>
          </a:xfrm>
          <a:prstGeom prst="roundRect">
            <a:avLst>
              <a:gd name="adj" fmla="val 373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5C">
                <a:alpha val="8000"/>
              </a:srgbClr>
            </a:outerShdw>
          </a:effectLst>
        </p:spPr>
      </p:sp>
      <p:graphicFrame>
        <p:nvGraphicFramePr>
          <p:cNvPr id="16" name="Chart 0" descr=""/>
          <p:cNvGraphicFramePr/>
          <p:nvPr/>
        </p:nvGraphicFramePr>
        <p:xfrm>
          <a:off x="685800" y="2788920"/>
          <a:ext cx="53035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697480"/>
          <a:ext cx="5242255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  <a:gridCol w="231617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Статья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Сумма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Как считали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Привлечение семьи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34,60 BYN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</a:rPr>
                        <a:t>реклама и бонус 25 + карта 10 × 60% × 1,6 ребёнка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Бонусы на семью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1,44 BYN/мес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</a:rPr>
                        <a:t>Манички 1% трат детей; кешбэк недели платят партнёры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Доход банка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7,37 BYN/мес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</a:rPr>
                        <a:t>оборот + остатки + «Семья+» + партнёры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Прибыль с семьи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4,93 BYN/мес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</a:rPr>
                        <a:t>доход − бонусы − обслуживание 1 BYN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Срок окупаемости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10,1 мес.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</a:rPr>
                        <a:t>(привлечение + разработка 15 BYN на семью) / прибыль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6. </a:t>
            </a:r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Допущения и выгода семьи</a:t>
            </a:r>
            <a:endParaRPr lang="en-US" sz="3000" dirty="0"/>
          </a:p>
        </p:txBody>
      </p:sp>
      <p:sp>
        <p:nvSpPr>
          <p:cNvPr id="3" name="Накопленный результат"/>
          <p:cNvSpPr/>
          <p:nvPr/>
        </p:nvSpPr>
        <p:spPr>
          <a:xfrm>
            <a:off x="548640" y="1280160"/>
            <a:ext cx="5577840" cy="416052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5C">
                <a:alpha val="8000"/>
              </a:srgbClr>
            </a:outerShdw>
          </a:effectLst>
        </p:spPr>
      </p:sp>
      <p:graphicFrame>
        <p:nvGraphicFramePr>
          <p:cNvPr id="4" name="Chart 0" descr=""/>
          <p:cNvGraphicFramePr/>
          <p:nvPr/>
        </p:nvGraphicFramePr>
        <p:xfrm>
          <a:off x="685800" y="1371600"/>
          <a:ext cx="53035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280160"/>
          <a:ext cx="524225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316175"/>
              </a:tblGrid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Допущение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Значение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Семей за первый год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10 000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Детей в семье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1,6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Траты ребёнка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90 BYN/мес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Новые траты родителя в МТБанке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150 BYN/мес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Доход с оборота по картам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1,2%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Средние остатки семьи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300 BYN, маржа 8%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«Семья+»: доля и платящие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40% · 50%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Траты у партнёров · комиссия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20% · 3%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Манички за счёт банка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1% трат детей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Разработка и запуск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150 тыс. BYN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605272"/>
            <a:ext cx="11094415" cy="54864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5605272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Выгода семьи: «Старт» 0 BYN · кешбэк 5–10% · Манички → подарки и деньги · скидка до 20% · страховка −30%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7. </a:t>
            </a:r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Product Canvas</a:t>
            </a:r>
            <a:endParaRPr lang="en-US" sz="3000" dirty="0"/>
          </a:p>
        </p:txBody>
      </p:sp>
      <p:sp>
        <p:nvSpPr>
          <p:cNvPr id="3" name="Проблема"/>
          <p:cNvSpPr/>
          <p:nvPr/>
        </p:nvSpPr>
        <p:spPr>
          <a:xfrm>
            <a:off x="548640" y="1234440"/>
            <a:ext cx="3576218" cy="1524000"/>
          </a:xfrm>
          <a:prstGeom prst="roundRect">
            <a:avLst>
              <a:gd name="adj" fmla="val 84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5C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417320"/>
            <a:ext cx="420624" cy="420624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758" y="1518270"/>
            <a:ext cx="218724" cy="2187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417320"/>
            <a:ext cx="26618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Проблема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1929384"/>
            <a:ext cx="3173882" cy="719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Родители не видят траты детей, дети не умеют обращаться с деньгами, детского банкинга в приложениях почти нет</a:t>
            </a:r>
            <a:endParaRPr lang="en-US" sz="1300" dirty="0"/>
          </a:p>
        </p:txBody>
      </p:sp>
      <p:sp>
        <p:nvSpPr>
          <p:cNvPr id="8" name="Решение"/>
          <p:cNvSpPr/>
          <p:nvPr/>
        </p:nvSpPr>
        <p:spPr>
          <a:xfrm>
            <a:off x="4307738" y="1234440"/>
            <a:ext cx="3576218" cy="1524000"/>
          </a:xfrm>
          <a:prstGeom prst="roundRect">
            <a:avLst>
              <a:gd name="adj" fmla="val 84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5C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08906" y="1417320"/>
            <a:ext cx="420624" cy="420624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9856" y="1518270"/>
            <a:ext cx="218724" cy="2187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039258" y="1417320"/>
            <a:ext cx="26618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Решение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508906" y="1929384"/>
            <a:ext cx="3173882" cy="719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Модуль «Семья» в Moby: карта с 7 лет, свой вход, контроль родителя, копилки, игры и уроки</a:t>
            </a:r>
            <a:endParaRPr lang="en-US" sz="1300" dirty="0"/>
          </a:p>
        </p:txBody>
      </p:sp>
      <p:sp>
        <p:nvSpPr>
          <p:cNvPr id="13" name="Ценность"/>
          <p:cNvSpPr/>
          <p:nvPr/>
        </p:nvSpPr>
        <p:spPr>
          <a:xfrm>
            <a:off x="8066837" y="1234440"/>
            <a:ext cx="3576218" cy="1524000"/>
          </a:xfrm>
          <a:prstGeom prst="roundRect">
            <a:avLst>
              <a:gd name="adj" fmla="val 84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5C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68005" y="1417320"/>
            <a:ext cx="420624" cy="420624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8955" y="1518270"/>
            <a:ext cx="218724" cy="2187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798357" y="1417320"/>
            <a:ext cx="26618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Ценность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8268005" y="1929384"/>
            <a:ext cx="3173882" cy="719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Родителю — контроль за минуту, ребёнку — свобода и игра, банку — клиент с 7 лет</a:t>
            </a:r>
            <a:endParaRPr lang="en-US" sz="1300" dirty="0"/>
          </a:p>
        </p:txBody>
      </p:sp>
      <p:sp>
        <p:nvSpPr>
          <p:cNvPr id="18" name="Сегменты"/>
          <p:cNvSpPr/>
          <p:nvPr/>
        </p:nvSpPr>
        <p:spPr>
          <a:xfrm>
            <a:off x="548640" y="2941320"/>
            <a:ext cx="3576218" cy="1524000"/>
          </a:xfrm>
          <a:prstGeom prst="roundRect">
            <a:avLst>
              <a:gd name="adj" fmla="val 84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5C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49808" y="3124200"/>
            <a:ext cx="420624" cy="420624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758" y="3225150"/>
            <a:ext cx="218724" cy="21872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80160" y="3124200"/>
            <a:ext cx="26618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Сегменты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749808" y="3636264"/>
            <a:ext cx="3173882" cy="719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Родители 30–60 лет — клиенты МТБанка; дети 7–13; подростки 14–17</a:t>
            </a:r>
            <a:endParaRPr lang="en-US" sz="1300" dirty="0"/>
          </a:p>
        </p:txBody>
      </p:sp>
      <p:sp>
        <p:nvSpPr>
          <p:cNvPr id="23" name="Каналы"/>
          <p:cNvSpPr/>
          <p:nvPr/>
        </p:nvSpPr>
        <p:spPr>
          <a:xfrm>
            <a:off x="4307738" y="2941320"/>
            <a:ext cx="3576218" cy="1524000"/>
          </a:xfrm>
          <a:prstGeom prst="roundRect">
            <a:avLst>
              <a:gd name="adj" fmla="val 84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5C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508906" y="3124200"/>
            <a:ext cx="420624" cy="420624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9856" y="3225150"/>
            <a:ext cx="218724" cy="21872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039258" y="3124200"/>
            <a:ext cx="26618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Каналы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4508906" y="3636264"/>
            <a:ext cx="3173882" cy="719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Вход «Семья» на главной Moby, экран «Новое в Moby», приглашение ребёнка по QR, партнёры</a:t>
            </a:r>
            <a:endParaRPr lang="en-US" sz="1300" dirty="0"/>
          </a:p>
        </p:txBody>
      </p:sp>
      <p:sp>
        <p:nvSpPr>
          <p:cNvPr id="28" name="Метрики"/>
          <p:cNvSpPr/>
          <p:nvPr/>
        </p:nvSpPr>
        <p:spPr>
          <a:xfrm>
            <a:off x="8066837" y="2941320"/>
            <a:ext cx="3576218" cy="1524000"/>
          </a:xfrm>
          <a:prstGeom prst="roundRect">
            <a:avLst>
              <a:gd name="adj" fmla="val 84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5C">
                <a:alpha val="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268005" y="3124200"/>
            <a:ext cx="420624" cy="420624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8955" y="3225150"/>
            <a:ext cx="218724" cy="21872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798357" y="3124200"/>
            <a:ext cx="26618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Метрики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8268005" y="3636264"/>
            <a:ext cx="3173882" cy="719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Семьи и активные дети, оборот детских карт, остатки, доля «Семья+», переход в 18 лет</a:t>
            </a:r>
            <a:endParaRPr lang="en-US" sz="1300" dirty="0"/>
          </a:p>
        </p:txBody>
      </p:sp>
      <p:sp>
        <p:nvSpPr>
          <p:cNvPr id="33" name="Доходы"/>
          <p:cNvSpPr/>
          <p:nvPr/>
        </p:nvSpPr>
        <p:spPr>
          <a:xfrm>
            <a:off x="548640" y="4648200"/>
            <a:ext cx="3576218" cy="1524000"/>
          </a:xfrm>
          <a:prstGeom prst="roundRect">
            <a:avLst>
              <a:gd name="adj" fmla="val 84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5C">
                <a:alpha val="8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749808" y="4831080"/>
            <a:ext cx="420624" cy="420624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758" y="4932030"/>
            <a:ext cx="218724" cy="218724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280160" y="4831080"/>
            <a:ext cx="26618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Доходы</a:t>
            </a:r>
            <a:endParaRPr lang="en-US" sz="1500" dirty="0"/>
          </a:p>
        </p:txBody>
      </p:sp>
      <p:sp>
        <p:nvSpPr>
          <p:cNvPr id="37" name="Text 28"/>
          <p:cNvSpPr txBox="1"/>
          <p:nvPr/>
        </p:nvSpPr>
        <p:spPr>
          <a:xfrm>
            <a:off x="749808" y="5343144"/>
            <a:ext cx="3173882" cy="719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Оборот по картам, маржа на остатки, «Семья+» 4,90 BYN, комиссия партнёров — 7,37 BYN с семьи</a:t>
            </a:r>
            <a:endParaRPr lang="en-US" sz="1300" dirty="0"/>
          </a:p>
        </p:txBody>
      </p:sp>
      <p:sp>
        <p:nvSpPr>
          <p:cNvPr id="38" name="Расходы"/>
          <p:cNvSpPr/>
          <p:nvPr/>
        </p:nvSpPr>
        <p:spPr>
          <a:xfrm>
            <a:off x="4307738" y="4648200"/>
            <a:ext cx="3576218" cy="1524000"/>
          </a:xfrm>
          <a:prstGeom prst="roundRect">
            <a:avLst>
              <a:gd name="adj" fmla="val 84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5C">
                <a:alpha val="8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4508906" y="4831080"/>
            <a:ext cx="420624" cy="420624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9856" y="4932030"/>
            <a:ext cx="218724" cy="218724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5039258" y="4831080"/>
            <a:ext cx="26618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Расходы</a:t>
            </a:r>
            <a:endParaRPr lang="en-US" sz="1500" dirty="0"/>
          </a:p>
        </p:txBody>
      </p:sp>
      <p:sp>
        <p:nvSpPr>
          <p:cNvPr id="42" name="Text 32"/>
          <p:cNvSpPr txBox="1"/>
          <p:nvPr/>
        </p:nvSpPr>
        <p:spPr>
          <a:xfrm>
            <a:off x="4508906" y="5343144"/>
            <a:ext cx="3173882" cy="719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Привлечение 25 BYN, карта 10 BYN, Манички 1% трат, обслуживание 1 BYN/мес, разработка 150 тыс.</a:t>
            </a:r>
            <a:endParaRPr lang="en-US" sz="1300" dirty="0"/>
          </a:p>
        </p:txBody>
      </p:sp>
      <p:sp>
        <p:nvSpPr>
          <p:cNvPr id="43" name="Преимущество"/>
          <p:cNvSpPr/>
          <p:nvPr/>
        </p:nvSpPr>
        <p:spPr>
          <a:xfrm>
            <a:off x="8066837" y="4648200"/>
            <a:ext cx="3576218" cy="1524000"/>
          </a:xfrm>
          <a:prstGeom prst="roundRect">
            <a:avLst>
              <a:gd name="adj" fmla="val 84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5C">
                <a:alpha val="8000"/>
              </a:srgbClr>
            </a:outerShdw>
          </a:effectLst>
        </p:spPr>
      </p:sp>
      <p:sp>
        <p:nvSpPr>
          <p:cNvPr id="44" name="Shape 34"/>
          <p:cNvSpPr/>
          <p:nvPr/>
        </p:nvSpPr>
        <p:spPr>
          <a:xfrm>
            <a:off x="8268005" y="4831080"/>
            <a:ext cx="420624" cy="420624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8955" y="4932030"/>
            <a:ext cx="218724" cy="218724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8798357" y="4831080"/>
            <a:ext cx="26618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Преимущество</a:t>
            </a:r>
            <a:endParaRPr lang="en-US" sz="1500" dirty="0"/>
          </a:p>
        </p:txBody>
      </p:sp>
      <p:sp>
        <p:nvSpPr>
          <p:cNvPr id="47" name="Text 36"/>
          <p:cNvSpPr txBox="1"/>
          <p:nvPr/>
        </p:nvSpPr>
        <p:spPr>
          <a:xfrm>
            <a:off x="8268005" y="5343144"/>
            <a:ext cx="3173882" cy="719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Встроено в Moby, два сценария по ГК РБ, игра и бонусы, которых нет у конкурентов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772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8. Попробуйте модуль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975" y="1997415"/>
            <a:ext cx="266273" cy="26627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82880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Веб-демо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kvasiuum.github.io/hackatonmtbank — работает в браузере телефона, данные хранятся на устройстве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788920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75" y="2911815"/>
            <a:ext cx="266273" cy="26627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274320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Android-приложение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APK в GitHub Releases, обновляется при каждом изменении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3703320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75" y="3826215"/>
            <a:ext cx="266273" cy="26627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71600" y="365760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Как войти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смарт-код 1111; вверху переключение: Родитель 1 и 2, Ребёнок 1 и 2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40080" y="4617720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975" y="4740615"/>
            <a:ext cx="266273" cy="266273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71600" y="457200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Что внутри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два родителя, два возраста, копилки, MobyPlay, Манички, экономика модуля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903720" y="1783080"/>
            <a:ext cx="2103120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6" name="Image 4" descr="QR-код веб-демо модуля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1920240"/>
            <a:ext cx="1828800" cy="182880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675120" y="4023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Наведите камеру телефона</a:t>
            </a:r>
            <a:endParaRPr lang="en-US" sz="1200" dirty="0"/>
          </a:p>
        </p:txBody>
      </p:sp>
      <p:pic>
        <p:nvPicPr>
          <p:cNvPr id="18" name="Image 5" descr="Экран модуля «Семья» в Moby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1886" y="914400"/>
            <a:ext cx="2321169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oby Семья">
  <a:themeElements>
    <a:clrScheme name="Moby Семья">
      <a:dk1>
        <a:srgbClr val="0A1F5C"/>
      </a:dk1>
      <a:lt1>
        <a:srgbClr val="FFFFFF"/>
      </a:lt1>
      <a:dk2>
        <a:srgbClr val="5B6B9A"/>
      </a:dk2>
      <a:lt2>
        <a:srgbClr val="F3F6FD"/>
      </a:lt2>
      <a:accent1>
        <a:srgbClr val="1E3FD6"/>
      </a:accent1>
      <a:accent2>
        <a:srgbClr val="E4252F"/>
      </a:accent2>
      <a:accent3>
        <a:srgbClr val="97CFFF"/>
      </a:accent3>
      <a:accent4>
        <a:srgbClr val="2334C8"/>
      </a:accent4>
      <a:accent5>
        <a:srgbClr val="D5E0FA"/>
      </a:accent5>
      <a:accent6>
        <a:srgbClr val="EAF0FF"/>
      </a:accent6>
      <a:hlink>
        <a:srgbClr val="1E3FD6"/>
      </a:hlink>
      <a:folHlink>
        <a:srgbClr val="5B6B9A"/>
      </a:folHlink>
    </a:clrScheme>
    <a:fontScheme name="Moby Семья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Детско-семейный банкинг в Moby</dc:title>
  <dc:subject>PptxGenJS Presentation</dc:subject>
  <dc:creator>Мухин Захар, Мовсик Алексей, Гайдук Никита</dc:creator>
  <cp:lastModifiedBy>Мухин Захар, Мовсик Алексей, Гайдук Никита</cp:lastModifiedBy>
  <cp:revision>1</cp:revision>
  <dcterms:created xsi:type="dcterms:W3CDTF">2026-10-21T14:30:01Z</dcterms:created>
  <dcterms:modified xsi:type="dcterms:W3CDTF">2026-10-21T14:30:01Z</dcterms:modified>
</cp:coreProperties>
</file>