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Титул" id="{28847391-d7f4-bab8-411a-e2e4c2b2ab8a}">
          <p14:sldIdLst>
            <p14:sldId id="256"/>
          </p14:sldIdLst>
        </p14:section>
        <p14:section name="Анализ ТЗ" id="{4b590567-ace2-210f-c123-000b78179d88}">
          <p14:sldIdLst>
            <p14:sldId id="257"/>
          </p14:sldIdLst>
        </p14:section>
        <p14:section name="Концепция" id="{ad6b0d13-3278-b9bb-11d9-541f9b7a1fd3}">
          <p14:sldIdLst>
            <p14:sldId id="258"/>
            <p14:sldId id="259"/>
          </p14:sldIdLst>
        </p14:section>
        <p14:section name="Целевая аудитория" id="{e9301525-e8d3-8de2-d22f-ff0000003e18}">
          <p14:sldIdLst>
            <p14:sldId id="260"/>
          </p14:sldIdLst>
        </p14:section>
        <p14:section name="Конкуренты и изюминка" id="{618962e0-ec72-752d-4df8-943fdd222af0}">
          <p14:sldIdLst>
            <p14:sldId id="261"/>
            <p14:sldId id="262"/>
            <p14:sldId id="263"/>
          </p14:sldIdLst>
        </p14:section>
        <p14:section name="Схема работы модуля" id="{8f81b3d5-cf3a-1354-bbad-5c148efc5bf6}">
          <p14:sldIdLst>
            <p14:sldId id="264"/>
            <p14:sldId id="265"/>
            <p14:sldId id="266"/>
            <p14:sldId id="267"/>
          </p14:sldIdLst>
        </p14:section>
        <p14:section name="Экономическое обоснование" id="{3a238729-7d19-803e-1fa2-08e91eb8bfce}">
          <p14:sldIdLst>
            <p14:sldId id="268"/>
            <p14:sldId id="269"/>
            <p14:sldId id="270"/>
          </p14:sldIdLst>
        </p14:section>
        <p14:section name="Product Canvas" id="{0bd97835-e30e-acd3-ad71-0dc728c09e07}">
          <p14:sldIdLst>
            <p14:sldId id="271"/>
          </p14:sldIdLst>
        </p14:section>
        <p14:section name="Соответствие ТЗ" id="{ed0683b5-b0ae-7630-5f42-6cc2e9a20745}">
          <p14:sldIdLst>
            <p14:sldId id="272"/>
          </p14:sldIdLst>
        </p14:section>
        <p14:section name="Демо и итог" id="{171f9c3e-12ce-bb27-fc11-6f6bb5ceb714}">
          <p14:sldIdLst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A1F5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A1F5C"/>
                </a:solidFill>
                <a:latin typeface="+mn-lt"/>
              </a:rPr>
              <a:t>Доходы и расходы на семью в месяц, BYN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BYN на семью в месяц</c:v>
                </c:pt>
              </c:strCache>
            </c:strRef>
          </c:tx>
          <c:spPr>
            <a:solidFill>
              <a:srgbClr val="1E3F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A1F5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3F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3F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3FD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E3FD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4252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4252F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E4252F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Оборот по картам</c:v>
                  </c:pt>
                  <c:pt idx="1">
                    <c:v>Остатки на счетах</c:v>
                  </c:pt>
                  <c:pt idx="2">
                    <c:v>Плата «Семья+»</c:v>
                  </c:pt>
                  <c:pt idx="3">
                    <c:v>Комиссия партнёров</c:v>
                  </c:pt>
                  <c:pt idx="4">
                    <c:v>Манички</c:v>
                  </c:pt>
                  <c:pt idx="5">
                    <c:v>Спецусловия</c:v>
                  </c:pt>
                  <c:pt idx="6">
                    <c:v>Обслуживание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3.53</c:v>
                </c:pt>
                <c:pt idx="1">
                  <c:v>2</c:v>
                </c:pt>
                <c:pt idx="2">
                  <c:v>0.98</c:v>
                </c:pt>
                <c:pt idx="3">
                  <c:v>0.86</c:v>
                </c:pt>
                <c:pt idx="4">
                  <c:v>-1.78</c:v>
                </c:pt>
                <c:pt idx="5">
                  <c:v>-0.2</c:v>
                </c:pt>
                <c:pt idx="6">
                  <c:v>-1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0A1F5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A1F5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5"/>
          <c:min val="-2.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A1F5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A1F5C"/>
                </a:solidFill>
                <a:latin typeface="+mn-lt"/>
              </a:rPr>
              <a:t>Накопленный результат с семьи, BYN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Накопленный результат, BYN</c:v>
                </c:pt>
              </c:strCache>
            </c:strRef>
          </c:tx>
          <c:spPr>
            <a:solidFill>
              <a:srgbClr val="1E3FD6"/>
            </a:solidFill>
            <a:ln w="38100" cap="flat">
              <a:solidFill>
                <a:srgbClr val="1E3F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E3FD6"/>
              </a:solidFill>
              <a:ln w="9525" cap="flat">
                <a:solidFill>
                  <a:srgbClr val="1E3F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-49.6</c:v>
                </c:pt>
                <c:pt idx="1">
                  <c:v>-45.21</c:v>
                </c:pt>
                <c:pt idx="2">
                  <c:v>-40.82</c:v>
                </c:pt>
                <c:pt idx="3">
                  <c:v>-36.43</c:v>
                </c:pt>
                <c:pt idx="4">
                  <c:v>-32.04</c:v>
                </c:pt>
                <c:pt idx="5">
                  <c:v>-27.65</c:v>
                </c:pt>
                <c:pt idx="6">
                  <c:v>-23.26</c:v>
                </c:pt>
                <c:pt idx="7">
                  <c:v>-18.87</c:v>
                </c:pt>
                <c:pt idx="8">
                  <c:v>-14.48</c:v>
                </c:pt>
                <c:pt idx="9">
                  <c:v>-10.09</c:v>
                </c:pt>
                <c:pt idx="10">
                  <c:v>-5.7</c:v>
                </c:pt>
                <c:pt idx="11">
                  <c:v>-1.31</c:v>
                </c:pt>
                <c:pt idx="12">
                  <c:v>3.08</c:v>
                </c:pt>
                <c:pt idx="13">
                  <c:v>7.48</c:v>
                </c:pt>
                <c:pt idx="14">
                  <c:v>11.87</c:v>
                </c:pt>
                <c:pt idx="15">
                  <c:v>16.26</c:v>
                </c:pt>
                <c:pt idx="16">
                  <c:v>20.65</c:v>
                </c:pt>
                <c:pt idx="17">
                  <c:v>25.04</c:v>
                </c:pt>
                <c:pt idx="18">
                  <c:v>29.43</c:v>
                </c:pt>
                <c:pt idx="19">
                  <c:v>33.82</c:v>
                </c:pt>
                <c:pt idx="20">
                  <c:v>38.21</c:v>
                </c:pt>
                <c:pt idx="21">
                  <c:v>42.6</c:v>
                </c:pt>
                <c:pt idx="22">
                  <c:v>46.99</c:v>
                </c:pt>
                <c:pt idx="23">
                  <c:v>51.38</c:v>
                </c:pt>
                <c:pt idx="24">
                  <c:v>55.77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B9A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B6B9A"/>
                    </a:solidFill>
                    <a:latin typeface="Arial"/>
                  </a:rPr>
                  <a:t>месяц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9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5E0F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9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сделали рабочий модуль «Семья» внутри Moby: карту ребёнку с 7 лет, родительский контроль и обучение финграмотности через игру. Покажем, как он закрывает ТЗ, чем отличается, как работает и почему окупается.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требования ТЗ и как модуль на них отвечает. Ст. 25 ГК РБ: малолетние до 14 лет совершают мелкие бытовые сделки, поэтому карта 7–13 — дополнительная к счёту родителя. Ст. 26: с 14 лет подросток сам распоряжается заработком и вкладами. Согласия законного представителя собираются при подключении.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7–13 лет карта оформляется как дополнительная к счёту родителя (ст. 25 ГК РБ). Ребёнок видит, сколько ещё можно потратить сегодня, копит в живой копилке и учится в MobyPlay.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14–17 лет — всё из младшего сценария плюс самостоятельность: свой заработок, платежи и вклад. Уровни «Пути к 18» постепенно расширяют лимиты, в 18 лет карта переоформляется на подростка и клиент остаётся в банке.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Рынок: 1,76 млн детей до 18 лет (Белстат, 01.01.2025) и около 1,1 млн семей с детьми — оценка по переписи 2019 года (2,61 млн семей, 43,7% с детьми до 18 лет). Цель первого года — 10 тысяч семей, меньше процента рынка; на этом числе построена экономика.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конкурентов детская карта — это дополнительная карта к счёту родителя с лимитами. У нас — отдельный опыт для ребёнка: свой вход, обучение, накопления и бонусы. Сведения о конкурентах — по открытым описаниям продуктов на сайтах банков.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Шесть механик, которых нет у конкурентов в такой связке. Изюминка — эмоция и выгода: живая копилка радует ребёнка, «Трать меньше» превращает экономию в скидку, Манички делают всю семью участниками программы лояльности, а «Путь к 18» удерживает клиента до взрослого возраста.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 же механики на настоящих экранах модуля: копилка ребёнка, карточка «Трать меньше» с процентами по неделям, экран Маничек с подарками и обменом и уровни «Пути к 18».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Ядро принимает решение по каждой покупке ребёнка и при необходимости отправляет запрос нужному родителю. Все траты раскладываются по категориям: ребёнок-подросток видит аналитику у себя, родитель — в карточке ребёнка. Партнёры платят кешбэк и подарки из маркетингового бюджета, банк зарабатывает на оборотах, остатках и комиссии.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Родитель узнаёт о модуле на главной Moby, выбирает возраст — от него зависит правовая модель, подписывает согласия смарт-кодом, выпускает карту и даёт ребёнку доступ по коду или QR. Потом настраивает ограничения и управляет: видит операции и аналитику трат по категориям, блокирует карту, меняет лимиты.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Ребёнок получает карту, заходит в Moby по смарт-коду, платит выбранной картой. Покупка дороже порога уходит родителю на подтверждение. Ребёнок копит в живой копилке и учится в MobyPlay, получая Манички и опыт.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Подросток пользуется почти взрослым банком: платежи, переводы, вклад. Аналитика показывает траты по категориям — сумма сходится с итогом месяца. Экономия по неделям даёт скидку у партнёров, а уровни «Пути к 18» ведут во взрослый Moby.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числа считает та же функция, что и калькулятор «Экономика модуля» на демо-стенде. С семьи банк получает 7,37 BYN в месяц, расходы — Манички, спецусловия «Семья+» и обслуживание. Остаётся 4,39 BYN. Разовые затраты 49,60 BYN (привлечение с картой и доля разработки) окупаются за 11,3 месяца, за три года семья приносит 108,45 BYN без учёта оттока.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строка — формула калькулятора модуля. Манички посчитаны по тем же правилам, по которым их начисляет приложение: ребёнку 1 за каждый BYN покупок, каждому родителю 1 за 2 BYN покупок детей и 1 за 5 BYN переводов (вдвое больше в «Семья+»), плюс игры и уроки. Первый год по 10 000 семьям: около 31 тыс. BYN, дальше каждая семья приносит 52,68 BYN в год.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Критерии п. 4.2 ТЗ. Банку модуль приносит оборот, остатки и новых активных клиентов с 7 лет. Семья получает скидки у партнёров — развлекательный центр, детская клиника, кружки, — льготные условия пакета, удобство и обучение ребёнка. Модель устойчива: даже если все Манички обменивают на деньги, семья окупается меньше чем за два года.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 Canvas — логика продукта одним слайдом: проблема, решение, ценность для каждой стороны, сегменты, каналы, метрики, доходы, расходы и преимущество.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Сверка с ТЗ по пунктам: каждый пункт закрыт работающей функцией модуля, её можно показать на демо. Используем известные механики (детская карта, родительский контроль) в новой комбинации — это прямо допускается ТЗ.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Модуль можно открыть прямо сейчас: QR ведёт на веб-демо, оно работает без сервера в браузере телефона. Есть и Android-приложение.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Итог: модуль закрывает все пункты ТЗ, у него есть понятная изюминка и он окупается меньше чем за год. Спасибо, ждём вопросов.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онтент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Детско-семейный банкинг в Moby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2588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Детско-семейный банкинг в Moby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00400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Модуль «Семья» для МТБанка: карта ребёнку с 7 лет, контроль родителя и финансовая грамотность в игре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343400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Мухин Захар (барбос)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Мовсик Алексей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Гайдук Никита</a:t>
            </a:r>
            <a:endParaRPr lang="en-US" sz="1500" dirty="0"/>
          </a:p>
        </p:txBody>
      </p:sp>
      <p:sp>
        <p:nvSpPr>
          <p:cNvPr id="5" name="План"/>
          <p:cNvSpPr/>
          <p:nvPr/>
        </p:nvSpPr>
        <p:spPr>
          <a:xfrm>
            <a:off x="7223760" y="868680"/>
            <a:ext cx="4389120" cy="5120640"/>
          </a:xfrm>
          <a:prstGeom prst="roundRect">
            <a:avLst>
              <a:gd name="adj" fmla="val 3333"/>
            </a:avLst>
          </a:prstGeom>
          <a:solidFill>
            <a:schemeClr val="accent4">
              <a:alpha val="70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89520" y="11430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План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589520" y="1691640"/>
            <a:ext cx="38404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Анализ ТЗ</a:t>
            </a:r>
            <a:endParaRPr lang="en-US" sz="16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Концепция</a:t>
            </a:r>
            <a:endParaRPr lang="en-US" sz="16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Целевая аудитория</a:t>
            </a:r>
            <a:endParaRPr lang="en-US" sz="16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Конкуренты и наша изюминка</a:t>
            </a:r>
            <a:endParaRPr lang="en-US" sz="16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Схема работы модуля</a:t>
            </a:r>
            <a:endParaRPr lang="en-US" sz="16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Экономическое обоснование</a:t>
            </a:r>
            <a:endParaRPr lang="en-US" sz="16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Product Canvas</a:t>
            </a:r>
            <a:endParaRPr lang="en-US" sz="16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Соответствие ТЗ</a:t>
            </a:r>
            <a:endParaRPr lang="en-US" sz="16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Демо и итог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1.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Анализ ТЗ</a:t>
            </a:r>
            <a:endParaRPr lang="en-US" sz="3000" dirty="0"/>
          </a:p>
        </p:txBody>
      </p:sp>
      <p:sp>
        <p:nvSpPr>
          <p:cNvPr id="3" name="Цель банка"/>
          <p:cNvSpPr/>
          <p:nvPr/>
        </p:nvSpPr>
        <p:spPr>
          <a:xfrm>
            <a:off x="548640" y="1280160"/>
            <a:ext cx="3515258" cy="4160520"/>
          </a:xfrm>
          <a:prstGeom prst="roundRect">
            <a:avLst>
              <a:gd name="adj" fmla="val 3642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55448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1690543"/>
            <a:ext cx="294803" cy="29480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240280"/>
            <a:ext cx="2966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Цель банка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517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Привлечь семьи с детьми, увеличить обороты и остатки по картам, вырастить будущего взрослого клиента.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70332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Как решаем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005072"/>
            <a:ext cx="296661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Карты ребёнка и родителя в МТБанке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Копилки и вклады держат остатки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 18 лет — переход во взрослый Moby</a:t>
            </a:r>
            <a:endParaRPr lang="en-US" sz="1400" dirty="0"/>
          </a:p>
        </p:txBody>
      </p:sp>
      <p:sp>
        <p:nvSpPr>
          <p:cNvPr id="10" name="Цель семьи"/>
          <p:cNvSpPr/>
          <p:nvPr/>
        </p:nvSpPr>
        <p:spPr>
          <a:xfrm>
            <a:off x="4338218" y="1280160"/>
            <a:ext cx="3515258" cy="4160520"/>
          </a:xfrm>
          <a:prstGeom prst="roundRect">
            <a:avLst>
              <a:gd name="adj" fmla="val 3642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2538" y="155448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8601" y="1690543"/>
            <a:ext cx="294803" cy="29480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12538" y="2240280"/>
            <a:ext cx="2966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Цель семьи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4612538" y="26517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Простой и безопасный способ научить ребёнка обращаться с деньгами.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612538" y="370332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Как решаем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4612538" y="4005072"/>
            <a:ext cx="296661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Лимиты, категории, подтверждение покупок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Карманные деньги и задания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Игры и уроки в MobyPlay</a:t>
            </a:r>
            <a:endParaRPr lang="en-US" sz="1400" dirty="0"/>
          </a:p>
        </p:txBody>
      </p:sp>
      <p:sp>
        <p:nvSpPr>
          <p:cNvPr id="17" name="Рамки"/>
          <p:cNvSpPr/>
          <p:nvPr/>
        </p:nvSpPr>
        <p:spPr>
          <a:xfrm>
            <a:off x="8127797" y="1280160"/>
            <a:ext cx="3515258" cy="4160520"/>
          </a:xfrm>
          <a:prstGeom prst="roundRect">
            <a:avLst>
              <a:gd name="adj" fmla="val 3642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402117" y="155448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8180" y="1690543"/>
            <a:ext cx="294803" cy="294803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402117" y="2240280"/>
            <a:ext cx="2966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Рамки</a:t>
            </a:r>
            <a:endParaRPr lang="en-US" sz="1900" dirty="0"/>
          </a:p>
        </p:txBody>
      </p:sp>
      <p:sp>
        <p:nvSpPr>
          <p:cNvPr id="21" name="Text 16"/>
          <p:cNvSpPr txBox="1"/>
          <p:nvPr/>
        </p:nvSpPr>
        <p:spPr>
          <a:xfrm>
            <a:off x="8402117" y="26517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Законодательство РБ, своё решение без плагиата, два возраста: 7–13 и 14–17 лет.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8402117" y="370332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Как решаем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8402117" y="4005072"/>
            <a:ext cx="296661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Ст. 25–26 ГК РБ: права малолетних и 14–17 лет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Закон № 99-З: согласия законного представителя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18+ и азартные игры закрыты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548640" y="5605272"/>
            <a:ext cx="11094415" cy="54864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22960" y="5605272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Сдаём: Pitch Deck · Product Canvas · Экономическое обоснование · рабочий модуль (веб-демо и Android-приложение)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2.1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Концепция: 7–13 лет</a:t>
            </a:r>
            <a:endParaRPr lang="en-US" sz="3000" dirty="0"/>
          </a:p>
        </p:txBody>
      </p:sp>
      <p:sp>
        <p:nvSpPr>
          <p:cNvPr id="3" name="Концепция"/>
          <p:cNvSpPr/>
          <p:nvPr/>
        </p:nvSpPr>
        <p:spPr>
          <a:xfrm>
            <a:off x="548640" y="1280160"/>
            <a:ext cx="6080760" cy="4846320"/>
          </a:xfrm>
          <a:prstGeom prst="roundRect">
            <a:avLst>
              <a:gd name="adj" fmla="val 2642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572768"/>
            <a:ext cx="118872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57276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7–13 лет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194560" y="1572768"/>
            <a:ext cx="1280160" cy="38404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94560" y="157276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14–17 лет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176272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Первая карта под присмотром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743200"/>
            <a:ext cx="54406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Карта с 7 лет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стикер, браслет или пластик; виртуальная выпускается сразу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Свой вход в Moby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по смарт-коду; лимиты, категории и подтверждение от родителя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Карманные деньги и задания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автоперевод по понедельникам, награда за дела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Мега-копилка на мечту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родители добавляют 10%, сдача с покупок падает в копилку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MobyPlay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игры, уроки финграмотности и уровни самостоятельности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Манички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бонусы с покупок и игр → подарки партнёров или деньги</a:t>
            </a:r>
            <a:endParaRPr lang="en-US" sz="1400" dirty="0"/>
          </a:p>
        </p:txBody>
      </p:sp>
      <p:pic>
        <p:nvPicPr>
          <p:cNvPr id="10" name="Image 0" descr="Экран модуля «Семья» в Mob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35972" y="1280160"/>
            <a:ext cx="2166382" cy="4846320"/>
          </a:xfrm>
          <a:prstGeom prst="rect">
            <a:avLst/>
          </a:prstGeom>
        </p:spPr>
      </p:pic>
      <p:pic>
        <p:nvPicPr>
          <p:cNvPr id="11" name="Image 1" descr="Экран модуля «Семья» в Mob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6673" y="1280160"/>
            <a:ext cx="2166382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2.2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Концепция: 14–17 лет</a:t>
            </a:r>
            <a:endParaRPr lang="en-US" sz="3000" dirty="0"/>
          </a:p>
        </p:txBody>
      </p:sp>
      <p:sp>
        <p:nvSpPr>
          <p:cNvPr id="3" name="Концепция"/>
          <p:cNvSpPr/>
          <p:nvPr/>
        </p:nvSpPr>
        <p:spPr>
          <a:xfrm>
            <a:off x="548640" y="1280160"/>
            <a:ext cx="6080760" cy="4846320"/>
          </a:xfrm>
          <a:prstGeom prst="roundRect">
            <a:avLst>
              <a:gd name="adj" fmla="val 2642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572768"/>
            <a:ext cx="1188720" cy="38404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57276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7–13 лет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194560" y="1572768"/>
            <a:ext cx="128016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94560" y="157276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14–17 лет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176272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Больше свободы, шаг к взрослому Moby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743200"/>
            <a:ext cx="54406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Своя карта и вход по номеру телефона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подросток может сам попроситься в семью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Заработок отдельно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родитель не может его списать (ст. 26 ГК РБ)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Платежи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QR КРОК, ЕРИП, переводы по номеру карты и телефона, подписки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Вклад, копилки и аналитика трат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видно, куда ушли деньги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«Путь к 18»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5 уровней самостоятельности, в 18 — взрослый Moby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«Трать меньше — получай скидку»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до 20% в месяц у партнёров</a:t>
            </a:r>
            <a:endParaRPr lang="en-US" sz="1400" dirty="0"/>
          </a:p>
        </p:txBody>
      </p:sp>
      <p:pic>
        <p:nvPicPr>
          <p:cNvPr id="10" name="Image 0" descr="Экран модуля «Семья» в Mob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35972" y="1280160"/>
            <a:ext cx="2166382" cy="4846320"/>
          </a:xfrm>
          <a:prstGeom prst="rect">
            <a:avLst/>
          </a:prstGeom>
        </p:spPr>
      </p:pic>
      <p:pic>
        <p:nvPicPr>
          <p:cNvPr id="11" name="Image 1" descr="Экран модуля «Семья» в Mob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6673" y="1280160"/>
            <a:ext cx="2166382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3.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Целевая аудитория</a:t>
            </a:r>
            <a:endParaRPr lang="en-US" sz="3000" dirty="0"/>
          </a:p>
        </p:txBody>
      </p:sp>
      <p:sp>
        <p:nvSpPr>
          <p:cNvPr id="3" name="Родители 30–60 лет"/>
          <p:cNvSpPr/>
          <p:nvPr/>
        </p:nvSpPr>
        <p:spPr>
          <a:xfrm>
            <a:off x="548640" y="1280160"/>
            <a:ext cx="3515258" cy="2788920"/>
          </a:xfrm>
          <a:prstGeom prst="roundRect">
            <a:avLst>
              <a:gd name="adj" fmla="val 459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554480"/>
            <a:ext cx="548640" cy="54864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68615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554480"/>
            <a:ext cx="2372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Родители 30–60 лет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04288"/>
            <a:ext cx="296661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Хотят научить ребёнка распоряжаться деньгами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Не всегда есть время следить за тратами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Нужны контроль и спокойствие</a:t>
            </a:r>
            <a:endParaRPr lang="en-US" sz="1400" dirty="0"/>
          </a:p>
        </p:txBody>
      </p:sp>
      <p:sp>
        <p:nvSpPr>
          <p:cNvPr id="8" name="Дети 7–13 лет"/>
          <p:cNvSpPr/>
          <p:nvPr/>
        </p:nvSpPr>
        <p:spPr>
          <a:xfrm>
            <a:off x="4338218" y="1280160"/>
            <a:ext cx="3515258" cy="2788920"/>
          </a:xfrm>
          <a:prstGeom prst="roundRect">
            <a:avLst>
              <a:gd name="adj" fmla="val 459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12538" y="1554480"/>
            <a:ext cx="548640" cy="54864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4212" y="16861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98338" y="1554480"/>
            <a:ext cx="2372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Дети 7–13 лет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2304288"/>
            <a:ext cx="296661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Тратят в школьной столовой, буфете и магазине у дома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Не хотят думать о тратах — им нужна игра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Копят на мечту: самокат, конструктор</a:t>
            </a:r>
            <a:endParaRPr lang="en-US" sz="1400" dirty="0"/>
          </a:p>
        </p:txBody>
      </p:sp>
      <p:sp>
        <p:nvSpPr>
          <p:cNvPr id="13" name="Подростки 14–17 лет"/>
          <p:cNvSpPr/>
          <p:nvPr/>
        </p:nvSpPr>
        <p:spPr>
          <a:xfrm>
            <a:off x="8127797" y="1280160"/>
            <a:ext cx="3515258" cy="2788920"/>
          </a:xfrm>
          <a:prstGeom prst="roundRect">
            <a:avLst>
              <a:gd name="adj" fmla="val 459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402117" y="1554480"/>
            <a:ext cx="548640" cy="54864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3790" y="168615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87917" y="1554480"/>
            <a:ext cx="2372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Подростки 14–17 лет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2304288"/>
            <a:ext cx="296661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Школьники, студенты колледжей, геймеры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Шопинг, встречи с друзьями, первые подработки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Главная боль — «куда ушли мои деньги?»</a:t>
            </a:r>
            <a:endParaRPr lang="en-US" sz="1400" dirty="0"/>
          </a:p>
        </p:txBody>
      </p:sp>
      <p:sp>
        <p:nvSpPr>
          <p:cNvPr id="18" name="1,76 млн"/>
          <p:cNvSpPr/>
          <p:nvPr/>
        </p:nvSpPr>
        <p:spPr>
          <a:xfrm>
            <a:off x="548640" y="4297680"/>
            <a:ext cx="3515258" cy="1828800"/>
          </a:xfrm>
          <a:prstGeom prst="roundRect">
            <a:avLst>
              <a:gd name="adj" fmla="val 7000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22960" y="455371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1,76 млн</a:t>
            </a:r>
            <a:endParaRPr lang="en-US" sz="3200" dirty="0"/>
          </a:p>
        </p:txBody>
      </p:sp>
      <p:sp>
        <p:nvSpPr>
          <p:cNvPr id="20" name="Text 15"/>
          <p:cNvSpPr txBox="1"/>
          <p:nvPr/>
        </p:nvSpPr>
        <p:spPr>
          <a:xfrm>
            <a:off x="822960" y="521208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детей до 18 лет — 19,4% населения (Белстат, на 01.01.2025)</a:t>
            </a:r>
            <a:endParaRPr lang="en-US" sz="1300" dirty="0"/>
          </a:p>
        </p:txBody>
      </p:sp>
      <p:sp>
        <p:nvSpPr>
          <p:cNvPr id="21" name="≈1,1 млн"/>
          <p:cNvSpPr/>
          <p:nvPr/>
        </p:nvSpPr>
        <p:spPr>
          <a:xfrm>
            <a:off x="4338218" y="4297680"/>
            <a:ext cx="3515258" cy="1828800"/>
          </a:xfrm>
          <a:prstGeom prst="roundRect">
            <a:avLst>
              <a:gd name="adj" fmla="val 7000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612538" y="455371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≈1,1 млн</a:t>
            </a:r>
            <a:endParaRPr lang="en-US" sz="3200" dirty="0"/>
          </a:p>
        </p:txBody>
      </p:sp>
      <p:sp>
        <p:nvSpPr>
          <p:cNvPr id="23" name="Text 18"/>
          <p:cNvSpPr txBox="1"/>
          <p:nvPr/>
        </p:nvSpPr>
        <p:spPr>
          <a:xfrm>
            <a:off x="4612538" y="521208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семей с детьми до 18 лет (оценка по переписи 2019: 43,7% семей)</a:t>
            </a:r>
            <a:endParaRPr lang="en-US" sz="1300" dirty="0"/>
          </a:p>
        </p:txBody>
      </p:sp>
      <p:sp>
        <p:nvSpPr>
          <p:cNvPr id="24" name="10 тыс."/>
          <p:cNvSpPr/>
          <p:nvPr/>
        </p:nvSpPr>
        <p:spPr>
          <a:xfrm>
            <a:off x="8127797" y="4297680"/>
            <a:ext cx="3515258" cy="1828800"/>
          </a:xfrm>
          <a:prstGeom prst="roundRect">
            <a:avLst>
              <a:gd name="adj" fmla="val 7000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402117" y="455371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10 тыс.</a:t>
            </a:r>
            <a:endParaRPr lang="en-US" sz="3200" dirty="0"/>
          </a:p>
        </p:txBody>
      </p:sp>
      <p:sp>
        <p:nvSpPr>
          <p:cNvPr id="26" name="Text 21"/>
          <p:cNvSpPr txBox="1"/>
          <p:nvPr/>
        </p:nvSpPr>
        <p:spPr>
          <a:xfrm>
            <a:off x="8402117" y="521208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семей — цель первого года, меньше 1% семей с детьми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4.1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Конкуренты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697480"/>
                <a:gridCol w="2697480"/>
                <a:gridCol w="34564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Критерий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Беларусбанк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Альфа-Банк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МТБанк: Moby «Семья»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Карта для ребёнка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БЕЛКАРТ «Детская» для 6–18 лет, дополнительная к счёту родителя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Карта ребёнку в «Пакете решений», к счёту родителя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С 7 лет: стикер, браслет или пластик и виртуальная; с 14 лет — своя карта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Родительский контроль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Лимиты по операциям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Лимиты на снятие и расходы в приложении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Лимиты, категории, подтверждение покупок, аналитика трат; 18+ закрыто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Геймификация и обучение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MobyPlay: игры, уроки, уровни «Путь к 18»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Партнёрские бонусы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Для детских карт нет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Бонусы в пакетах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Кешбэк недели 5–10%, Манички → подарки партнёров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Накопления на цель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Для детских карт нет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Для детских карт нет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Мега-копилка, вклад, скидка до 20% за экономию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605272"/>
            <a:ext cx="11094415" cy="54864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605272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Отличие: детский опыт встроен в Moby — не отдельное приложение, а два возрастных сценария с игрой и выгодой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4.2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Чем мы выделяемся</a:t>
            </a:r>
            <a:endParaRPr lang="en-US" sz="3000" dirty="0"/>
          </a:p>
        </p:txBody>
      </p:sp>
      <p:sp>
        <p:nvSpPr>
          <p:cNvPr id="3" name="Мега-копилка, которая живёт"/>
          <p:cNvSpPr/>
          <p:nvPr/>
        </p:nvSpPr>
        <p:spPr>
          <a:xfrm>
            <a:off x="548640" y="1280160"/>
            <a:ext cx="3515258" cy="2240280"/>
          </a:xfrm>
          <a:prstGeom prst="roundRect">
            <a:avLst>
              <a:gd name="adj" fmla="val 5714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04672" y="153619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1956" y="1663476"/>
            <a:ext cx="275783" cy="27578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536192"/>
            <a:ext cx="24179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Мега-копилка, которая живёт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04672" y="2240280"/>
            <a:ext cx="300319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Монеты падают внутрь стеклянной свинки, она радуется пополнению и разбивается, когда цель набрана. Родители добавляют 10%.</a:t>
            </a:r>
            <a:endParaRPr lang="en-US" sz="1400" dirty="0"/>
          </a:p>
        </p:txBody>
      </p:sp>
      <p:sp>
        <p:nvSpPr>
          <p:cNvPr id="8" name="«Трать меньше — получай скидку»"/>
          <p:cNvSpPr/>
          <p:nvPr/>
        </p:nvSpPr>
        <p:spPr>
          <a:xfrm>
            <a:off x="4338218" y="1280160"/>
            <a:ext cx="3515258" cy="224028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594250" y="1536192"/>
            <a:ext cx="530352" cy="53035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1535" y="1663476"/>
            <a:ext cx="275783" cy="27578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52618" y="1536192"/>
            <a:ext cx="24179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«Трать меньше — получай скидку»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594250" y="2240280"/>
            <a:ext cx="300319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Каждые 10 BYN экономии к прошлой неделе — 1% скидки у партнёра. За месяц до 20%. Экономия становится выгодой.</a:t>
            </a:r>
            <a:endParaRPr lang="en-US" sz="1400" dirty="0"/>
          </a:p>
        </p:txBody>
      </p:sp>
      <p:sp>
        <p:nvSpPr>
          <p:cNvPr id="13" name="Манички для всей семьи"/>
          <p:cNvSpPr/>
          <p:nvPr/>
        </p:nvSpPr>
        <p:spPr>
          <a:xfrm>
            <a:off x="8127797" y="1280160"/>
            <a:ext cx="3515258" cy="224028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383829" y="1536192"/>
            <a:ext cx="530352" cy="53035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1113" y="1663476"/>
            <a:ext cx="275783" cy="27578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42197" y="1536192"/>
            <a:ext cx="24179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Манички для всей семьи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8383829" y="2240280"/>
            <a:ext cx="300319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Свой счёт у ребёнка и у каждого родителя (п. 4.3 ТЗ). Меняются на подарки партнёров или на деньги: 100 = 1 BYN.</a:t>
            </a:r>
            <a:endParaRPr lang="en-US" sz="1400" dirty="0"/>
          </a:p>
        </p:txBody>
      </p:sp>
      <p:sp>
        <p:nvSpPr>
          <p:cNvPr id="18" name="«Путь к 18»"/>
          <p:cNvSpPr/>
          <p:nvPr/>
        </p:nvSpPr>
        <p:spPr>
          <a:xfrm>
            <a:off x="548640" y="3749040"/>
            <a:ext cx="3515258" cy="224028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04672" y="4005072"/>
            <a:ext cx="530352" cy="53035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56" y="4132356"/>
            <a:ext cx="275783" cy="27578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463040" y="4005072"/>
            <a:ext cx="24179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«Путь к 18»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804672" y="4709160"/>
            <a:ext cx="300319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 уровней самостоятельности: модуль сам предлагает родителю расширить лимиты, а в 18 лет ребёнок переходит во взрослый Moby.</a:t>
            </a:r>
            <a:endParaRPr lang="en-US" sz="1400" dirty="0"/>
          </a:p>
        </p:txBody>
      </p:sp>
      <p:sp>
        <p:nvSpPr>
          <p:cNvPr id="23" name="Два родителя — один ребёнок"/>
          <p:cNvSpPr/>
          <p:nvPr/>
        </p:nvSpPr>
        <p:spPr>
          <a:xfrm>
            <a:off x="4338218" y="3749040"/>
            <a:ext cx="3515258" cy="224028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4594250" y="4005072"/>
            <a:ext cx="530352" cy="53035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1535" y="4132356"/>
            <a:ext cx="275783" cy="27578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252618" y="4005072"/>
            <a:ext cx="24179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Два родителя — один ребёнок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4594250" y="4709160"/>
            <a:ext cx="300319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Ребёнок просит деньги у конкретного родителя; запрос видит и переводит только он, со своей карты.</a:t>
            </a:r>
            <a:endParaRPr lang="en-US" sz="1400" dirty="0"/>
          </a:p>
        </p:txBody>
      </p:sp>
      <p:sp>
        <p:nvSpPr>
          <p:cNvPr id="28" name="Решение по каждой покупке"/>
          <p:cNvSpPr/>
          <p:nvPr/>
        </p:nvSpPr>
        <p:spPr>
          <a:xfrm>
            <a:off x="8127797" y="3749040"/>
            <a:ext cx="3515258" cy="224028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383829" y="4005072"/>
            <a:ext cx="530352" cy="53035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1113" y="4132356"/>
            <a:ext cx="275783" cy="27578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42197" y="4005072"/>
            <a:ext cx="24179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Решение по каждой покупке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8383829" y="4709160"/>
            <a:ext cx="300319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Лимит, категория и порог проверяются за доли секунды; если нужно — запрос родителю и оплата после одобрения.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4.3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Изюминка в приложении</a:t>
            </a:r>
            <a:endParaRPr lang="en-US" sz="3000" dirty="0"/>
          </a:p>
        </p:txBody>
      </p:sp>
      <p:sp>
        <p:nvSpPr>
          <p:cNvPr id="3" name="Мега-копилка"/>
          <p:cNvSpPr/>
          <p:nvPr/>
        </p:nvSpPr>
        <p:spPr>
          <a:xfrm>
            <a:off x="548640" y="1280160"/>
            <a:ext cx="2602154" cy="4846320"/>
          </a:xfrm>
          <a:prstGeom prst="roundRect">
            <a:avLst>
              <a:gd name="adj" fmla="val 492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444752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Мега-копилка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19072"/>
            <a:ext cx="21449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монеты видны внутри</a:t>
            </a:r>
            <a:endParaRPr lang="en-US" sz="1100" dirty="0"/>
          </a:p>
        </p:txBody>
      </p:sp>
      <p:pic>
        <p:nvPicPr>
          <p:cNvPr id="6" name="Image 0" descr="Экран модуля «Семья» в Mob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08" y="2057400"/>
            <a:ext cx="1859818" cy="4160520"/>
          </a:xfrm>
          <a:prstGeom prst="rect">
            <a:avLst/>
          </a:prstGeom>
        </p:spPr>
      </p:pic>
      <p:sp>
        <p:nvSpPr>
          <p:cNvPr id="7" name="Трать меньше"/>
          <p:cNvSpPr/>
          <p:nvPr/>
        </p:nvSpPr>
        <p:spPr>
          <a:xfrm>
            <a:off x="3379394" y="1280160"/>
            <a:ext cx="2602154" cy="4846320"/>
          </a:xfrm>
          <a:prstGeom prst="roundRect">
            <a:avLst>
              <a:gd name="adj" fmla="val 492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3607994" y="1444752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Трать меньше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607994" y="1719072"/>
            <a:ext cx="21449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до 20% скидки за экономию</a:t>
            </a:r>
            <a:endParaRPr lang="en-US" sz="1100" dirty="0"/>
          </a:p>
        </p:txBody>
      </p:sp>
      <p:pic>
        <p:nvPicPr>
          <p:cNvPr id="10" name="Image 1" descr="Экран модуля «Семья» в Mob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0562" y="2057400"/>
            <a:ext cx="1859818" cy="4160520"/>
          </a:xfrm>
          <a:prstGeom prst="rect">
            <a:avLst/>
          </a:prstGeom>
        </p:spPr>
      </p:pic>
      <p:sp>
        <p:nvSpPr>
          <p:cNvPr id="11" name="Манички"/>
          <p:cNvSpPr/>
          <p:nvPr/>
        </p:nvSpPr>
        <p:spPr>
          <a:xfrm>
            <a:off x="6210148" y="1280160"/>
            <a:ext cx="2602154" cy="4846320"/>
          </a:xfrm>
          <a:prstGeom prst="roundRect">
            <a:avLst>
              <a:gd name="adj" fmla="val 492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438748" y="1444752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Манички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438748" y="1719072"/>
            <a:ext cx="21449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подарки и обмен на деньги</a:t>
            </a:r>
            <a:endParaRPr lang="en-US" sz="1100" dirty="0"/>
          </a:p>
        </p:txBody>
      </p:sp>
      <p:pic>
        <p:nvPicPr>
          <p:cNvPr id="14" name="Image 2" descr="Экран модуля «Семья» в Mob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1315" y="2057400"/>
            <a:ext cx="1859818" cy="4160520"/>
          </a:xfrm>
          <a:prstGeom prst="rect">
            <a:avLst/>
          </a:prstGeom>
        </p:spPr>
      </p:pic>
      <p:sp>
        <p:nvSpPr>
          <p:cNvPr id="15" name="Путь к 18"/>
          <p:cNvSpPr/>
          <p:nvPr/>
        </p:nvSpPr>
        <p:spPr>
          <a:xfrm>
            <a:off x="9040901" y="1280160"/>
            <a:ext cx="2602154" cy="4846320"/>
          </a:xfrm>
          <a:prstGeom prst="roundRect">
            <a:avLst>
              <a:gd name="adj" fmla="val 492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9269501" y="1444752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Путь к 18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9269501" y="1719072"/>
            <a:ext cx="21449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уровни до взрослого Moby</a:t>
            </a:r>
            <a:endParaRPr lang="en-US" sz="1100" dirty="0"/>
          </a:p>
        </p:txBody>
      </p:sp>
      <p:pic>
        <p:nvPicPr>
          <p:cNvPr id="18" name="Image 3" descr="Экран модуля «Семья» в Mob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2069" y="2057400"/>
            <a:ext cx="1859818" cy="4160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5.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Схема работы модуля</a:t>
            </a:r>
            <a:endParaRPr lang="en-US" sz="3000" dirty="0"/>
          </a:p>
        </p:txBody>
      </p:sp>
      <p:sp>
        <p:nvSpPr>
          <p:cNvPr id="3" name="Родитель"/>
          <p:cNvSpPr/>
          <p:nvPr/>
        </p:nvSpPr>
        <p:spPr>
          <a:xfrm>
            <a:off x="548640" y="1325880"/>
            <a:ext cx="2880360" cy="310896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04672" y="1581912"/>
            <a:ext cx="530352" cy="53035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1956" y="1709196"/>
            <a:ext cx="275783" cy="27578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581912"/>
            <a:ext cx="1783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Родитель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04672" y="2331720"/>
            <a:ext cx="2423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Задаёт лимиты, категории и порог подтверждения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Пополняет: карманные, задания, переводы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Видит операции и аналитику трат</a:t>
            </a:r>
            <a:endParaRPr lang="en-US" sz="1400" dirty="0"/>
          </a:p>
        </p:txBody>
      </p:sp>
      <p:sp>
        <p:nvSpPr>
          <p:cNvPr id="8" name="Moby «Семья»"/>
          <p:cNvSpPr/>
          <p:nvPr/>
        </p:nvSpPr>
        <p:spPr>
          <a:xfrm>
            <a:off x="4655668" y="1325880"/>
            <a:ext cx="2880360" cy="3108960"/>
          </a:xfrm>
          <a:prstGeom prst="roundRect">
            <a:avLst>
              <a:gd name="adj" fmla="val 4444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911700" y="158191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984" y="1709196"/>
            <a:ext cx="275783" cy="27578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70068" y="1581912"/>
            <a:ext cx="1783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Moby «Семья»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911700" y="2331720"/>
            <a:ext cx="2423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Решение по каждой покупке: лимит, категория, порог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Запросы и уведомления в реальном времени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Аналитика трат по категориям, Манички, уровни</a:t>
            </a:r>
            <a:endParaRPr lang="en-US" sz="1400" dirty="0"/>
          </a:p>
        </p:txBody>
      </p:sp>
      <p:sp>
        <p:nvSpPr>
          <p:cNvPr id="13" name="Ребёнок"/>
          <p:cNvSpPr/>
          <p:nvPr/>
        </p:nvSpPr>
        <p:spPr>
          <a:xfrm>
            <a:off x="8762695" y="1325880"/>
            <a:ext cx="2880360" cy="310896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9018727" y="1581912"/>
            <a:ext cx="530352" cy="53035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6012" y="1709196"/>
            <a:ext cx="275783" cy="27578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677095" y="1581912"/>
            <a:ext cx="1783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Ребёнок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9018727" y="2331720"/>
            <a:ext cx="2423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Платит картой или по QR КРОК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Просит деньги или доступ у конкретного родителя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Копит, играет, учится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3502152" y="2514600"/>
            <a:ext cx="108036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9" name="Text 14"/>
          <p:cNvSpPr txBox="1"/>
          <p:nvPr/>
        </p:nvSpPr>
        <p:spPr>
          <a:xfrm>
            <a:off x="3502152" y="2011680"/>
            <a:ext cx="10803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правила и деньги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3502152" y="3246120"/>
            <a:ext cx="108036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headEnd type="triangle"/>
          </a:ln>
        </p:spPr>
      </p:sp>
      <p:sp>
        <p:nvSpPr>
          <p:cNvPr id="21" name="Text 16"/>
          <p:cNvSpPr txBox="1"/>
          <p:nvPr/>
        </p:nvSpPr>
        <p:spPr>
          <a:xfrm>
            <a:off x="3502152" y="3337560"/>
            <a:ext cx="10803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запросы, траты, аналитика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7609180" y="2514600"/>
            <a:ext cx="108036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headEnd type="triangle"/>
          </a:ln>
        </p:spPr>
      </p:sp>
      <p:sp>
        <p:nvSpPr>
          <p:cNvPr id="23" name="Text 18"/>
          <p:cNvSpPr txBox="1"/>
          <p:nvPr/>
        </p:nvSpPr>
        <p:spPr>
          <a:xfrm>
            <a:off x="7609180" y="2011680"/>
            <a:ext cx="10803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покупки и запросы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7609180" y="3246120"/>
            <a:ext cx="108036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5" name="Text 20"/>
          <p:cNvSpPr txBox="1"/>
          <p:nvPr/>
        </p:nvSpPr>
        <p:spPr>
          <a:xfrm>
            <a:off x="7609180" y="3337560"/>
            <a:ext cx="10803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решение и награды</a:t>
            </a:r>
            <a:endParaRPr lang="en-US" sz="1100" dirty="0"/>
          </a:p>
        </p:txBody>
      </p:sp>
      <p:sp>
        <p:nvSpPr>
          <p:cNvPr id="26" name="МТБанк"/>
          <p:cNvSpPr/>
          <p:nvPr/>
        </p:nvSpPr>
        <p:spPr>
          <a:xfrm>
            <a:off x="548640" y="4754880"/>
            <a:ext cx="2880360" cy="1371600"/>
          </a:xfrm>
          <a:prstGeom prst="roundRect">
            <a:avLst>
              <a:gd name="adj" fmla="val 9333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777240" y="4983480"/>
            <a:ext cx="457200" cy="45720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5093208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353312" y="498348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МТБанк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777240" y="548640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Обороты по картам, остатки, комиссия партнёров</a:t>
            </a:r>
            <a:endParaRPr lang="en-US" sz="1200" dirty="0"/>
          </a:p>
        </p:txBody>
      </p:sp>
      <p:sp>
        <p:nvSpPr>
          <p:cNvPr id="31" name="Партнёры"/>
          <p:cNvSpPr/>
          <p:nvPr/>
        </p:nvSpPr>
        <p:spPr>
          <a:xfrm>
            <a:off x="4655668" y="4754880"/>
            <a:ext cx="2880360" cy="1371600"/>
          </a:xfrm>
          <a:prstGeom prst="roundRect">
            <a:avLst>
              <a:gd name="adj" fmla="val 9333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4884268" y="4983480"/>
            <a:ext cx="457200" cy="45720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3996" y="5093208"/>
            <a:ext cx="237744" cy="23774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5460340" y="498348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Партнёры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4884268" y="548640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Кешбэк недели, купоны за Манички, скидка до 20%</a:t>
            </a:r>
            <a:endParaRPr lang="en-US" sz="1200" dirty="0"/>
          </a:p>
        </p:txBody>
      </p:sp>
      <p:sp>
        <p:nvSpPr>
          <p:cNvPr id="36" name="Безопасность"/>
          <p:cNvSpPr/>
          <p:nvPr/>
        </p:nvSpPr>
        <p:spPr>
          <a:xfrm>
            <a:off x="8762695" y="4754880"/>
            <a:ext cx="2880360" cy="1371600"/>
          </a:xfrm>
          <a:prstGeom prst="roundRect">
            <a:avLst>
              <a:gd name="adj" fmla="val 9333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8991295" y="4983480"/>
            <a:ext cx="457200" cy="45720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1023" y="5093208"/>
            <a:ext cx="237744" cy="237744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9567367" y="498348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Безопасность</a:t>
            </a:r>
            <a:endParaRPr lang="en-US" sz="1500" dirty="0"/>
          </a:p>
        </p:txBody>
      </p:sp>
      <p:sp>
        <p:nvSpPr>
          <p:cNvPr id="40" name="Text 32"/>
          <p:cNvSpPr txBox="1"/>
          <p:nvPr/>
        </p:nvSpPr>
        <p:spPr>
          <a:xfrm>
            <a:off x="8991295" y="548640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18+ и азартные игры закрыты, крупные покупки — с подтверждением</a:t>
            </a:r>
            <a:endParaRPr lang="en-US" sz="1200" dirty="0"/>
          </a:p>
        </p:txBody>
      </p:sp>
      <p:sp>
        <p:nvSpPr>
          <p:cNvPr id="41" name="Shape 33"/>
          <p:cNvSpPr/>
          <p:nvPr/>
        </p:nvSpPr>
        <p:spPr>
          <a:xfrm>
            <a:off x="6095848" y="4480560"/>
            <a:ext cx="0" cy="22860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headEnd type="triangle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5.1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Путь родителя</a:t>
            </a:r>
            <a:endParaRPr lang="en-US" sz="3000" dirty="0"/>
          </a:p>
        </p:txBody>
      </p:sp>
      <p:sp>
        <p:nvSpPr>
          <p:cNvPr id="3" name="Узнаёт"/>
          <p:cNvSpPr/>
          <p:nvPr/>
        </p:nvSpPr>
        <p:spPr>
          <a:xfrm>
            <a:off x="548640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76656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60704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Узнаёт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экран «Новое в Moby» и вход «Семья»</a:t>
            </a:r>
            <a:endParaRPr lang="en-US" sz="1050" dirty="0"/>
          </a:p>
        </p:txBody>
      </p:sp>
      <p:pic>
        <p:nvPicPr>
          <p:cNvPr id="8" name="Image 0" descr="Экран модуля «Семья» в Mob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167128"/>
            <a:ext cx="1500073" cy="3355750"/>
          </a:xfrm>
          <a:prstGeom prst="rect">
            <a:avLst/>
          </a:prstGeom>
        </p:spPr>
      </p:pic>
      <p:sp>
        <p:nvSpPr>
          <p:cNvPr id="9" name="Оформляет"/>
          <p:cNvSpPr/>
          <p:nvPr/>
        </p:nvSpPr>
        <p:spPr>
          <a:xfrm>
            <a:off x="2423617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551633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551633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2935681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Оформляет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551633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возраст ребёнка и согласия</a:t>
            </a:r>
            <a:endParaRPr lang="en-US" sz="1050" dirty="0"/>
          </a:p>
        </p:txBody>
      </p:sp>
      <p:pic>
        <p:nvPicPr>
          <p:cNvPr id="14" name="Image 1" descr="Экран модуля «Семья» в Mob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3345" y="2167128"/>
            <a:ext cx="1500073" cy="3355750"/>
          </a:xfrm>
          <a:prstGeom prst="rect">
            <a:avLst/>
          </a:prstGeom>
        </p:spPr>
      </p:pic>
      <p:sp>
        <p:nvSpPr>
          <p:cNvPr id="15" name="Выпускает"/>
          <p:cNvSpPr/>
          <p:nvPr/>
        </p:nvSpPr>
        <p:spPr>
          <a:xfrm>
            <a:off x="4298594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426610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426610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4810658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Выпускает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426610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стикер, браслет или пластик</a:t>
            </a:r>
            <a:endParaRPr lang="en-US" sz="1050" dirty="0"/>
          </a:p>
        </p:txBody>
      </p:sp>
      <p:pic>
        <p:nvPicPr>
          <p:cNvPr id="20" name="Image 2" descr="Экран модуля «Семья» в Mob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8322" y="2167128"/>
            <a:ext cx="1500073" cy="3355750"/>
          </a:xfrm>
          <a:prstGeom prst="rect">
            <a:avLst/>
          </a:prstGeom>
        </p:spPr>
      </p:pic>
      <p:sp>
        <p:nvSpPr>
          <p:cNvPr id="21" name="Даёт доступ"/>
          <p:cNvSpPr/>
          <p:nvPr/>
        </p:nvSpPr>
        <p:spPr>
          <a:xfrm>
            <a:off x="6173572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301588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01588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6685636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Даёт доступ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301588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код и QR для входа ребёнка</a:t>
            </a:r>
            <a:endParaRPr lang="en-US" sz="1050" dirty="0"/>
          </a:p>
        </p:txBody>
      </p:sp>
      <p:pic>
        <p:nvPicPr>
          <p:cNvPr id="26" name="Image 3" descr="Экран модуля «Семья» в Mob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3300" y="2167128"/>
            <a:ext cx="1500073" cy="3355750"/>
          </a:xfrm>
          <a:prstGeom prst="rect">
            <a:avLst/>
          </a:prstGeom>
        </p:spPr>
      </p:pic>
      <p:sp>
        <p:nvSpPr>
          <p:cNvPr id="27" name="Ограничения"/>
          <p:cNvSpPr/>
          <p:nvPr/>
        </p:nvSpPr>
        <p:spPr>
          <a:xfrm>
            <a:off x="8048549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8176565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8176565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8560613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Ограничения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8176565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режим, продукты и операции</a:t>
            </a:r>
            <a:endParaRPr lang="en-US" sz="1050" dirty="0"/>
          </a:p>
        </p:txBody>
      </p:sp>
      <p:pic>
        <p:nvPicPr>
          <p:cNvPr id="32" name="Image 4" descr="Экран модуля «Семья» в Mob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8277" y="2167128"/>
            <a:ext cx="1500073" cy="3355750"/>
          </a:xfrm>
          <a:prstGeom prst="rect">
            <a:avLst/>
          </a:prstGeom>
        </p:spPr>
      </p:pic>
      <p:sp>
        <p:nvSpPr>
          <p:cNvPr id="33" name="Управляет"/>
          <p:cNvSpPr/>
          <p:nvPr/>
        </p:nvSpPr>
        <p:spPr>
          <a:xfrm>
            <a:off x="9923526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10051542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10051542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10435590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Управляет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10051542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аналитика трат, карты, лимиты</a:t>
            </a:r>
            <a:endParaRPr lang="en-US" sz="1050" dirty="0"/>
          </a:p>
        </p:txBody>
      </p:sp>
      <p:pic>
        <p:nvPicPr>
          <p:cNvPr id="38" name="Image 5" descr="Экран модуля «Семья» в Mob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3254" y="2167128"/>
            <a:ext cx="1500073" cy="3355750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548640" y="576062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Шаги — по п. 3.1 ТЗ: узнаёт → оформляет (возраст и согласия) → выпускает → даёт доступ → настраивает ограничения → управляет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5.2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Путь ребёнка 7–13</a:t>
            </a:r>
            <a:endParaRPr lang="en-US" sz="3000" dirty="0"/>
          </a:p>
        </p:txBody>
      </p:sp>
      <p:sp>
        <p:nvSpPr>
          <p:cNvPr id="3" name="Получает"/>
          <p:cNvSpPr/>
          <p:nvPr/>
        </p:nvSpPr>
        <p:spPr>
          <a:xfrm>
            <a:off x="548640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76656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60704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Получает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свою карту, «Я потерял карту»</a:t>
            </a:r>
            <a:endParaRPr lang="en-US" sz="1050" dirty="0"/>
          </a:p>
        </p:txBody>
      </p:sp>
      <p:pic>
        <p:nvPicPr>
          <p:cNvPr id="8" name="Image 0" descr="Экран модуля «Семья» в Mob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167128"/>
            <a:ext cx="1500073" cy="3355750"/>
          </a:xfrm>
          <a:prstGeom prst="rect">
            <a:avLst/>
          </a:prstGeom>
        </p:spPr>
      </p:pic>
      <p:sp>
        <p:nvSpPr>
          <p:cNvPr id="9" name="Входит"/>
          <p:cNvSpPr/>
          <p:nvPr/>
        </p:nvSpPr>
        <p:spPr>
          <a:xfrm>
            <a:off x="2423617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551633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551633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2935681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Входит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551633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в Moby по смарт-коду от родителя</a:t>
            </a:r>
            <a:endParaRPr lang="en-US" sz="1050" dirty="0"/>
          </a:p>
        </p:txBody>
      </p:sp>
      <p:pic>
        <p:nvPicPr>
          <p:cNvPr id="14" name="Image 1" descr="Экран модуля «Семья» в Mob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3345" y="2167128"/>
            <a:ext cx="1500073" cy="3355750"/>
          </a:xfrm>
          <a:prstGeom prst="rect">
            <a:avLst/>
          </a:prstGeom>
        </p:spPr>
      </p:pic>
      <p:sp>
        <p:nvSpPr>
          <p:cNvPr id="15" name="Платит"/>
          <p:cNvSpPr/>
          <p:nvPr/>
        </p:nvSpPr>
        <p:spPr>
          <a:xfrm>
            <a:off x="4298594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426610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426610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4810658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Платит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426610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выбирает карту в карусели</a:t>
            </a:r>
            <a:endParaRPr lang="en-US" sz="1050" dirty="0"/>
          </a:p>
        </p:txBody>
      </p:sp>
      <p:pic>
        <p:nvPicPr>
          <p:cNvPr id="20" name="Image 2" descr="Экран модуля «Семья» в Mob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8322" y="2167128"/>
            <a:ext cx="1500073" cy="3355750"/>
          </a:xfrm>
          <a:prstGeom prst="rect">
            <a:avLst/>
          </a:prstGeom>
        </p:spPr>
      </p:pic>
      <p:sp>
        <p:nvSpPr>
          <p:cNvPr id="21" name="Просит"/>
          <p:cNvSpPr/>
          <p:nvPr/>
        </p:nvSpPr>
        <p:spPr>
          <a:xfrm>
            <a:off x="6173572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301588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01588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6685636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Просит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301588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покупка дороже порога ждёт родителя</a:t>
            </a:r>
            <a:endParaRPr lang="en-US" sz="1050" dirty="0"/>
          </a:p>
        </p:txBody>
      </p:sp>
      <p:pic>
        <p:nvPicPr>
          <p:cNvPr id="26" name="Image 3" descr="Экран модуля «Семья» в Mob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3300" y="2167128"/>
            <a:ext cx="1500073" cy="3355750"/>
          </a:xfrm>
          <a:prstGeom prst="rect">
            <a:avLst/>
          </a:prstGeom>
        </p:spPr>
      </p:pic>
      <p:sp>
        <p:nvSpPr>
          <p:cNvPr id="27" name="Копит"/>
          <p:cNvSpPr/>
          <p:nvPr/>
        </p:nvSpPr>
        <p:spPr>
          <a:xfrm>
            <a:off x="8048549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8176565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8176565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8560613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Копит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8176565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мега-копилка на мечту</a:t>
            </a:r>
            <a:endParaRPr lang="en-US" sz="1050" dirty="0"/>
          </a:p>
        </p:txBody>
      </p:sp>
      <p:pic>
        <p:nvPicPr>
          <p:cNvPr id="32" name="Image 4" descr="Экран модуля «Семья» в Mob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8277" y="2167128"/>
            <a:ext cx="1500073" cy="3355750"/>
          </a:xfrm>
          <a:prstGeom prst="rect">
            <a:avLst/>
          </a:prstGeom>
        </p:spPr>
      </p:pic>
      <p:sp>
        <p:nvSpPr>
          <p:cNvPr id="33" name="Учится"/>
          <p:cNvSpPr/>
          <p:nvPr/>
        </p:nvSpPr>
        <p:spPr>
          <a:xfrm>
            <a:off x="9923526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10051542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10051542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10435590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Учится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10051542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игры и уроки, Манички в награду</a:t>
            </a:r>
            <a:endParaRPr lang="en-US" sz="1050" dirty="0"/>
          </a:p>
        </p:txBody>
      </p:sp>
      <p:pic>
        <p:nvPicPr>
          <p:cNvPr id="38" name="Image 5" descr="Экран модуля «Семья» в Mob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3254" y="2167128"/>
            <a:ext cx="1500073" cy="3355750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548640" y="576062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Шаги — по п. 3.2 ТЗ: получает карту → заходит в Moby → пользуется и запрашивает доступ → учится и получает награды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5.3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Путь подростка 14–17</a:t>
            </a:r>
            <a:endParaRPr lang="en-US" sz="3000" dirty="0"/>
          </a:p>
        </p:txBody>
      </p:sp>
      <p:sp>
        <p:nvSpPr>
          <p:cNvPr id="3" name="Входит"/>
          <p:cNvSpPr/>
          <p:nvPr/>
        </p:nvSpPr>
        <p:spPr>
          <a:xfrm>
            <a:off x="548640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76656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60704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Входит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по номеру телефона и SMS</a:t>
            </a:r>
            <a:endParaRPr lang="en-US" sz="1050" dirty="0"/>
          </a:p>
        </p:txBody>
      </p:sp>
      <p:pic>
        <p:nvPicPr>
          <p:cNvPr id="8" name="Image 0" descr="Экран модуля «Семья» в Mob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167128"/>
            <a:ext cx="1500073" cy="3355750"/>
          </a:xfrm>
          <a:prstGeom prst="rect">
            <a:avLst/>
          </a:prstGeom>
        </p:spPr>
      </p:pic>
      <p:sp>
        <p:nvSpPr>
          <p:cNvPr id="9" name="Платит"/>
          <p:cNvSpPr/>
          <p:nvPr/>
        </p:nvSpPr>
        <p:spPr>
          <a:xfrm>
            <a:off x="2423617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551633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551633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2935681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Платит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551633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QR КРОК, ЕРИП, переводы</a:t>
            </a:r>
            <a:endParaRPr lang="en-US" sz="1050" dirty="0"/>
          </a:p>
        </p:txBody>
      </p:sp>
      <p:pic>
        <p:nvPicPr>
          <p:cNvPr id="14" name="Image 1" descr="Экран модуля «Семья» в Mob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3345" y="2167128"/>
            <a:ext cx="1500073" cy="3355750"/>
          </a:xfrm>
          <a:prstGeom prst="rect">
            <a:avLst/>
          </a:prstGeom>
        </p:spPr>
      </p:pic>
      <p:sp>
        <p:nvSpPr>
          <p:cNvPr id="15" name="Копит"/>
          <p:cNvSpPr/>
          <p:nvPr/>
        </p:nvSpPr>
        <p:spPr>
          <a:xfrm>
            <a:off x="4298594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426610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426610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4810658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Копит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426610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копилки, вклад, заработок</a:t>
            </a:r>
            <a:endParaRPr lang="en-US" sz="1050" dirty="0"/>
          </a:p>
        </p:txBody>
      </p:sp>
      <p:pic>
        <p:nvPicPr>
          <p:cNvPr id="20" name="Image 2" descr="Экран модуля «Семья» в Mob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8322" y="2167128"/>
            <a:ext cx="1500073" cy="3355750"/>
          </a:xfrm>
          <a:prstGeom prst="rect">
            <a:avLst/>
          </a:prstGeom>
        </p:spPr>
      </p:pic>
      <p:sp>
        <p:nvSpPr>
          <p:cNvPr id="21" name="Анализирует"/>
          <p:cNvSpPr/>
          <p:nvPr/>
        </p:nvSpPr>
        <p:spPr>
          <a:xfrm>
            <a:off x="6173572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301588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01588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6685636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Анализирует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301588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траты по категориям за месяц</a:t>
            </a:r>
            <a:endParaRPr lang="en-US" sz="1050" dirty="0"/>
          </a:p>
        </p:txBody>
      </p:sp>
      <p:pic>
        <p:nvPicPr>
          <p:cNvPr id="26" name="Image 3" descr="Экран модуля «Семья» в Mob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3300" y="2167128"/>
            <a:ext cx="1500073" cy="3355750"/>
          </a:xfrm>
          <a:prstGeom prst="rect">
            <a:avLst/>
          </a:prstGeom>
        </p:spPr>
      </p:pic>
      <p:sp>
        <p:nvSpPr>
          <p:cNvPr id="27" name="Экономит"/>
          <p:cNvSpPr/>
          <p:nvPr/>
        </p:nvSpPr>
        <p:spPr>
          <a:xfrm>
            <a:off x="8048549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8176565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8176565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8560613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Экономит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8176565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скидка до 20% у партнёров</a:t>
            </a:r>
            <a:endParaRPr lang="en-US" sz="1050" dirty="0"/>
          </a:p>
        </p:txBody>
      </p:sp>
      <p:pic>
        <p:nvPicPr>
          <p:cNvPr id="32" name="Image 4" descr="Экран модуля «Семья» в Mob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8277" y="2167128"/>
            <a:ext cx="1500073" cy="3355750"/>
          </a:xfrm>
          <a:prstGeom prst="rect">
            <a:avLst/>
          </a:prstGeom>
        </p:spPr>
      </p:pic>
      <p:sp>
        <p:nvSpPr>
          <p:cNvPr id="33" name="Растёт"/>
          <p:cNvSpPr/>
          <p:nvPr/>
        </p:nvSpPr>
        <p:spPr>
          <a:xfrm>
            <a:off x="9923526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10051542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10051542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10435590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Растёт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10051542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уровни до взрослого Moby</a:t>
            </a:r>
            <a:endParaRPr lang="en-US" sz="1050" dirty="0"/>
          </a:p>
        </p:txBody>
      </p:sp>
      <p:pic>
        <p:nvPicPr>
          <p:cNvPr id="38" name="Image 5" descr="Экран модуля «Семья» в Mob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3254" y="2167128"/>
            <a:ext cx="1500073" cy="3355750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548640" y="576062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Подросток видит, куда ушли деньги: аналитика трат по категориям и скидка за экономию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6.1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Экономика на одну семью</a:t>
            </a:r>
            <a:endParaRPr lang="en-US" sz="3000" dirty="0"/>
          </a:p>
        </p:txBody>
      </p:sp>
      <p:sp>
        <p:nvSpPr>
          <p:cNvPr id="3" name="окупаемость семьи с учётом разработки"/>
          <p:cNvSpPr/>
          <p:nvPr/>
        </p:nvSpPr>
        <p:spPr>
          <a:xfrm>
            <a:off x="548640" y="1280160"/>
            <a:ext cx="2567864" cy="1188720"/>
          </a:xfrm>
          <a:prstGeom prst="roundRect">
            <a:avLst>
              <a:gd name="adj" fmla="val 10769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89888"/>
            <a:ext cx="2110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11,3 мес.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38528"/>
            <a:ext cx="2110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окупаемость семьи с учётом разработки</a:t>
            </a:r>
            <a:endParaRPr lang="en-US" sz="1200" dirty="0"/>
          </a:p>
        </p:txBody>
      </p:sp>
      <p:sp>
        <p:nvSpPr>
          <p:cNvPr id="6" name="прибыль с семьи в месяц"/>
          <p:cNvSpPr/>
          <p:nvPr/>
        </p:nvSpPr>
        <p:spPr>
          <a:xfrm>
            <a:off x="3390824" y="1280160"/>
            <a:ext cx="2567864" cy="1188720"/>
          </a:xfrm>
          <a:prstGeom prst="roundRect">
            <a:avLst>
              <a:gd name="adj" fmla="val 10769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19424" y="1389888"/>
            <a:ext cx="2110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4,39 BYN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3619424" y="1938528"/>
            <a:ext cx="2110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прибыль с семьи в месяц</a:t>
            </a:r>
            <a:endParaRPr lang="en-US" sz="1200" dirty="0"/>
          </a:p>
        </p:txBody>
      </p:sp>
      <p:sp>
        <p:nvSpPr>
          <p:cNvPr id="9" name="привлечение семьи с картой"/>
          <p:cNvSpPr/>
          <p:nvPr/>
        </p:nvSpPr>
        <p:spPr>
          <a:xfrm>
            <a:off x="6233008" y="1280160"/>
            <a:ext cx="2567864" cy="1188720"/>
          </a:xfrm>
          <a:prstGeom prst="roundRect">
            <a:avLst>
              <a:gd name="adj" fmla="val 10769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1608" y="1389888"/>
            <a:ext cx="2110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34,60 BYN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461608" y="1938528"/>
            <a:ext cx="2110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привлечение семьи с картой</a:t>
            </a:r>
            <a:endParaRPr lang="en-US" sz="1200" dirty="0"/>
          </a:p>
        </p:txBody>
      </p:sp>
      <p:sp>
        <p:nvSpPr>
          <p:cNvPr id="12" name="результат с семьи за 3 года"/>
          <p:cNvSpPr/>
          <p:nvPr/>
        </p:nvSpPr>
        <p:spPr>
          <a:xfrm>
            <a:off x="9075191" y="1280160"/>
            <a:ext cx="2567864" cy="1188720"/>
          </a:xfrm>
          <a:prstGeom prst="roundRect">
            <a:avLst>
              <a:gd name="adj" fmla="val 10769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03791" y="1389888"/>
            <a:ext cx="2110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108,45 BYN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9303791" y="1938528"/>
            <a:ext cx="2110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результат с семьи за 3 года</a:t>
            </a:r>
            <a:endParaRPr lang="en-US" sz="1200" dirty="0"/>
          </a:p>
        </p:txBody>
      </p:sp>
      <p:sp>
        <p:nvSpPr>
          <p:cNvPr id="15" name="Доходы и расходы"/>
          <p:cNvSpPr/>
          <p:nvPr/>
        </p:nvSpPr>
        <p:spPr>
          <a:xfrm>
            <a:off x="548640" y="2697480"/>
            <a:ext cx="5410048" cy="3429000"/>
          </a:xfrm>
          <a:prstGeom prst="roundRect">
            <a:avLst>
              <a:gd name="adj" fmla="val 373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graphicFrame>
        <p:nvGraphicFramePr>
          <p:cNvPr id="16" name="Chart 0" descr=""/>
          <p:cNvGraphicFramePr/>
          <p:nvPr/>
        </p:nvGraphicFramePr>
        <p:xfrm>
          <a:off x="685800" y="2788920"/>
          <a:ext cx="5135728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Накопленный результат"/>
          <p:cNvSpPr/>
          <p:nvPr/>
        </p:nvSpPr>
        <p:spPr>
          <a:xfrm>
            <a:off x="6233008" y="2697480"/>
            <a:ext cx="5410048" cy="3429000"/>
          </a:xfrm>
          <a:prstGeom prst="roundRect">
            <a:avLst>
              <a:gd name="adj" fmla="val 373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graphicFrame>
        <p:nvGraphicFramePr>
          <p:cNvPr id="18" name="Chart 1" descr=""/>
          <p:cNvGraphicFramePr/>
          <p:nvPr/>
        </p:nvGraphicFramePr>
        <p:xfrm>
          <a:off x="6370168" y="2788920"/>
          <a:ext cx="5135728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6.2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Расчёт экономики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54380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3977640"/>
                <a:gridCol w="105156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Статья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Расчёт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BYN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Доход с оборота по картам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(1,6 × 90 трат детей + 150 родителя) × 1,2%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+3,53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Процентный доход на остатки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300 BYN × 8% годовых / 12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+2,00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Плата за «Семья+»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4,90 BYN × 40% семей × 50% платящих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+0,98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Комиссия партнёров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144 BYN трат детей × 20% у партнёров × 3%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+0,86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Манички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356 шт. × 0,01 BYN × 50% обмена на деньги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2"/>
                          </a:solidFill>
                        </a:rPr>
                        <a:t>−1,78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Спецусловия «Семья+»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+1% к вкладу: 0,50 BYN × 40% семей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2"/>
                          </a:solidFill>
                        </a:rPr>
                        <a:t>−0,20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Обслуживание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процессинг, поддержка, SMS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2"/>
                          </a:solidFill>
                        </a:rPr>
                        <a:t>−1,00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Прибыль с семьи в месяц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7,37 − 2,98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4,39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Привлечение семьи, разово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25 BYN реклама и бонус + 10 BYN карта × 1,6 × 60%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34,60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Разработка на семью, разово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150 000 BYN / 10 000 семей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15,00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Окупаемость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(34,60 + 15,00) / 4,39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11,3 мес.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</a:tbl>
          </a:graphicData>
        </a:graphic>
      </p:graphicFrame>
      <p:sp>
        <p:nvSpPr>
          <p:cNvPr id="4" name="Манички"/>
          <p:cNvSpPr/>
          <p:nvPr/>
        </p:nvSpPr>
        <p:spPr>
          <a:xfrm>
            <a:off x="8366760" y="1280160"/>
            <a:ext cx="3276295" cy="4846320"/>
          </a:xfrm>
          <a:prstGeom prst="roundRect">
            <a:avLst>
              <a:gd name="adj" fmla="val 3907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622792" y="1508760"/>
            <a:ext cx="502920" cy="5029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3493" y="1629461"/>
            <a:ext cx="261518" cy="26151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35440" y="1508760"/>
            <a:ext cx="2224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Манички на семью в месяц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8622792" y="2194560"/>
            <a:ext cx="2133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Ребёнку с покупок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 за 1 BYN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0774375" y="21945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144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622792" y="2816352"/>
            <a:ext cx="2133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Родителям с покупок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 за 2 BYN детей × 1,5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0774375" y="281635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108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22792" y="3438144"/>
            <a:ext cx="2133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Родителям за переводы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 за 5 BYN, ×2 в «Семья+»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10774375" y="343814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40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8622792" y="4059936"/>
            <a:ext cx="2133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Ребёнку за игры и уроки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40 × 1,6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10774375" y="405993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64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622792" y="4681728"/>
            <a:ext cx="2764231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622792" y="4773168"/>
            <a:ext cx="276423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Итого 356 Маничек = 3,56 BYN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Купоны оплачивают партнёры, часть не тратится: деньгами банк платит 50% — 1,78 BYN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6.3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Win-Win: выгодно банку и семье</a:t>
            </a:r>
            <a:endParaRPr lang="en-US" sz="3000" dirty="0"/>
          </a:p>
        </p:txBody>
      </p:sp>
      <p:sp>
        <p:nvSpPr>
          <p:cNvPr id="3" name="Банку"/>
          <p:cNvSpPr/>
          <p:nvPr/>
        </p:nvSpPr>
        <p:spPr>
          <a:xfrm>
            <a:off x="548640" y="1280160"/>
            <a:ext cx="5410048" cy="4114800"/>
          </a:xfrm>
          <a:prstGeom prst="roundRect">
            <a:avLst>
              <a:gd name="adj" fmla="val 3111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5087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64043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508760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Банку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40280"/>
            <a:ext cx="486140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Оборот по картам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+294 BYN в месяц на семью: траты детей и родителя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Остатки и депозит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300 BYN на семью: счета детей, копилки, вклад «На вырост»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Активные клиенты Moby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+1,6 клиента на семью с 7 лет, в 18 — взрослый Moby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Окупаемость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11,3 мес., дальше 52,68 BYN в год с семьи</a:t>
            </a:r>
            <a:endParaRPr lang="en-US" sz="1400" dirty="0"/>
          </a:p>
        </p:txBody>
      </p:sp>
      <p:sp>
        <p:nvSpPr>
          <p:cNvPr id="8" name="Семье"/>
          <p:cNvSpPr/>
          <p:nvPr/>
        </p:nvSpPr>
        <p:spPr>
          <a:xfrm>
            <a:off x="6233008" y="1280160"/>
            <a:ext cx="5410048" cy="4114800"/>
          </a:xfrm>
          <a:prstGeom prst="roundRect">
            <a:avLst>
              <a:gd name="adj" fmla="val 3111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07328" y="15087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9001" y="164043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93128" y="1508760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Семье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2240280"/>
            <a:ext cx="486140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Бонусы в развлечениях и медицине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детский центр −15%, клиника −10%, кружки без комиссии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Льготные условия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«Старт» 0 BYN, «Семья+» бесплатен при тратах от 400 BYN, страховка −30%, +1% к вкладу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Удобство управления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всё в Moby, два родителя, запросы в один тап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Обучение ребёнка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игры, уроки, задания и «Путь к 18»; Манички и скидка за экономию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48640" y="5605272"/>
            <a:ext cx="11094415" cy="54864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22960" y="5605272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Окупаемость, если: 5 тыс. семей — 14,7 мес. · 20 тыс. — 9,6 · привлечение 50 BYN — 17,0 · все Манички деньгами — 19,0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7.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Product Canvas</a:t>
            </a:r>
            <a:endParaRPr lang="en-US" sz="3000" dirty="0"/>
          </a:p>
        </p:txBody>
      </p:sp>
      <p:sp>
        <p:nvSpPr>
          <p:cNvPr id="3" name="Проблема"/>
          <p:cNvSpPr/>
          <p:nvPr/>
        </p:nvSpPr>
        <p:spPr>
          <a:xfrm>
            <a:off x="548640" y="1234440"/>
            <a:ext cx="3576218" cy="1524000"/>
          </a:xfrm>
          <a:prstGeom prst="roundRect">
            <a:avLst>
              <a:gd name="adj" fmla="val 84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49808" y="1417320"/>
            <a:ext cx="420624" cy="42062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758" y="1518270"/>
            <a:ext cx="218724" cy="2187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417320"/>
            <a:ext cx="26618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Проблема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1929384"/>
            <a:ext cx="3173882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Родители не видят траты детей, дети не умеют обращаться с деньгами, детская карта у банков — просто дополнительная карта родителя</a:t>
            </a:r>
            <a:endParaRPr lang="en-US" sz="1300" dirty="0"/>
          </a:p>
        </p:txBody>
      </p:sp>
      <p:sp>
        <p:nvSpPr>
          <p:cNvPr id="8" name="Решение"/>
          <p:cNvSpPr/>
          <p:nvPr/>
        </p:nvSpPr>
        <p:spPr>
          <a:xfrm>
            <a:off x="4307738" y="1234440"/>
            <a:ext cx="3576218" cy="1524000"/>
          </a:xfrm>
          <a:prstGeom prst="roundRect">
            <a:avLst>
              <a:gd name="adj" fmla="val 84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508906" y="1417320"/>
            <a:ext cx="420624" cy="42062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9856" y="1518270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039258" y="1417320"/>
            <a:ext cx="26618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Решение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08906" y="1929384"/>
            <a:ext cx="3173882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Модуль «Семья» в Moby: карта с 7 лет, свой вход, контроль родителя, аналитика трат, копилки, игры и уроки</a:t>
            </a:r>
            <a:endParaRPr lang="en-US" sz="1300" dirty="0"/>
          </a:p>
        </p:txBody>
      </p:sp>
      <p:sp>
        <p:nvSpPr>
          <p:cNvPr id="13" name="Ценность"/>
          <p:cNvSpPr/>
          <p:nvPr/>
        </p:nvSpPr>
        <p:spPr>
          <a:xfrm>
            <a:off x="8066837" y="1234440"/>
            <a:ext cx="3576218" cy="1524000"/>
          </a:xfrm>
          <a:prstGeom prst="roundRect">
            <a:avLst>
              <a:gd name="adj" fmla="val 84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268005" y="1417320"/>
            <a:ext cx="420624" cy="42062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8955" y="1518270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798357" y="1417320"/>
            <a:ext cx="26618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Ценность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268005" y="1929384"/>
            <a:ext cx="3173882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Родителю — контроль за минуту, ребёнку — свобода и игра, банку — клиент с 7 лет</a:t>
            </a:r>
            <a:endParaRPr lang="en-US" sz="1300" dirty="0"/>
          </a:p>
        </p:txBody>
      </p:sp>
      <p:sp>
        <p:nvSpPr>
          <p:cNvPr id="18" name="Сегменты"/>
          <p:cNvSpPr/>
          <p:nvPr/>
        </p:nvSpPr>
        <p:spPr>
          <a:xfrm>
            <a:off x="548640" y="2941320"/>
            <a:ext cx="3576218" cy="1524000"/>
          </a:xfrm>
          <a:prstGeom prst="roundRect">
            <a:avLst>
              <a:gd name="adj" fmla="val 84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3124200"/>
            <a:ext cx="420624" cy="42062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758" y="3225150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3124200"/>
            <a:ext cx="26618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Сегменты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749808" y="3636264"/>
            <a:ext cx="3173882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Родители 30–60 лет — клиенты МТБанка; дети 7–13; подростки 14–17</a:t>
            </a:r>
            <a:endParaRPr lang="en-US" sz="1300" dirty="0"/>
          </a:p>
        </p:txBody>
      </p:sp>
      <p:sp>
        <p:nvSpPr>
          <p:cNvPr id="23" name="Каналы"/>
          <p:cNvSpPr/>
          <p:nvPr/>
        </p:nvSpPr>
        <p:spPr>
          <a:xfrm>
            <a:off x="4307738" y="2941320"/>
            <a:ext cx="3576218" cy="1524000"/>
          </a:xfrm>
          <a:prstGeom prst="roundRect">
            <a:avLst>
              <a:gd name="adj" fmla="val 84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4508906" y="3124200"/>
            <a:ext cx="420624" cy="42062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9856" y="3225150"/>
            <a:ext cx="218724" cy="21872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039258" y="3124200"/>
            <a:ext cx="26618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Каналы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4508906" y="3636264"/>
            <a:ext cx="3173882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Вход «Семья» на главной Moby, экран «Новое в Moby», приглашение ребёнка по QR, партнёры</a:t>
            </a:r>
            <a:endParaRPr lang="en-US" sz="1300" dirty="0"/>
          </a:p>
        </p:txBody>
      </p:sp>
      <p:sp>
        <p:nvSpPr>
          <p:cNvPr id="28" name="Метрики"/>
          <p:cNvSpPr/>
          <p:nvPr/>
        </p:nvSpPr>
        <p:spPr>
          <a:xfrm>
            <a:off x="8066837" y="2941320"/>
            <a:ext cx="3576218" cy="1524000"/>
          </a:xfrm>
          <a:prstGeom prst="roundRect">
            <a:avLst>
              <a:gd name="adj" fmla="val 84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268005" y="3124200"/>
            <a:ext cx="420624" cy="42062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8955" y="3225150"/>
            <a:ext cx="218724" cy="21872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798357" y="3124200"/>
            <a:ext cx="26618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Метрики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8268005" y="3636264"/>
            <a:ext cx="3173882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Семьи и активные дети, оборот детских карт, остатки, доля «Семья+», переход в 18 лет</a:t>
            </a:r>
            <a:endParaRPr lang="en-US" sz="1300" dirty="0"/>
          </a:p>
        </p:txBody>
      </p:sp>
      <p:sp>
        <p:nvSpPr>
          <p:cNvPr id="33" name="Доходы"/>
          <p:cNvSpPr/>
          <p:nvPr/>
        </p:nvSpPr>
        <p:spPr>
          <a:xfrm>
            <a:off x="548640" y="4648200"/>
            <a:ext cx="3576218" cy="1524000"/>
          </a:xfrm>
          <a:prstGeom prst="roundRect">
            <a:avLst>
              <a:gd name="adj" fmla="val 84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749808" y="4831080"/>
            <a:ext cx="420624" cy="42062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758" y="4932030"/>
            <a:ext cx="218724" cy="218724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1280160" y="4831080"/>
            <a:ext cx="26618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Доходы</a:t>
            </a:r>
            <a:endParaRPr lang="en-US" sz="1500" dirty="0"/>
          </a:p>
        </p:txBody>
      </p:sp>
      <p:sp>
        <p:nvSpPr>
          <p:cNvPr id="37" name="Text 28"/>
          <p:cNvSpPr txBox="1"/>
          <p:nvPr/>
        </p:nvSpPr>
        <p:spPr>
          <a:xfrm>
            <a:off x="749808" y="5343144"/>
            <a:ext cx="3173882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Оборот по картам, маржа на остатки, «Семья+» 4,90 BYN, комиссия партнёров — 7,37 BYN с семьи</a:t>
            </a:r>
            <a:endParaRPr lang="en-US" sz="1300" dirty="0"/>
          </a:p>
        </p:txBody>
      </p:sp>
      <p:sp>
        <p:nvSpPr>
          <p:cNvPr id="38" name="Расходы"/>
          <p:cNvSpPr/>
          <p:nvPr/>
        </p:nvSpPr>
        <p:spPr>
          <a:xfrm>
            <a:off x="4307738" y="4648200"/>
            <a:ext cx="3576218" cy="1524000"/>
          </a:xfrm>
          <a:prstGeom prst="roundRect">
            <a:avLst>
              <a:gd name="adj" fmla="val 84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39" name="Shape 30"/>
          <p:cNvSpPr/>
          <p:nvPr/>
        </p:nvSpPr>
        <p:spPr>
          <a:xfrm>
            <a:off x="4508906" y="4831080"/>
            <a:ext cx="420624" cy="42062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09856" y="4932030"/>
            <a:ext cx="218724" cy="218724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5039258" y="4831080"/>
            <a:ext cx="26618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Расходы</a:t>
            </a:r>
            <a:endParaRPr lang="en-US" sz="1500" dirty="0"/>
          </a:p>
        </p:txBody>
      </p:sp>
      <p:sp>
        <p:nvSpPr>
          <p:cNvPr id="42" name="Text 32"/>
          <p:cNvSpPr txBox="1"/>
          <p:nvPr/>
        </p:nvSpPr>
        <p:spPr>
          <a:xfrm>
            <a:off x="4508906" y="5343144"/>
            <a:ext cx="3173882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Привлечение 34,60 BYN, Манички 1,78 BYN/мес, обслуживание 1 BYN/мес, разработка 150 тыс. BYN</a:t>
            </a:r>
            <a:endParaRPr lang="en-US" sz="1300" dirty="0"/>
          </a:p>
        </p:txBody>
      </p:sp>
      <p:sp>
        <p:nvSpPr>
          <p:cNvPr id="43" name="Преимущество"/>
          <p:cNvSpPr/>
          <p:nvPr/>
        </p:nvSpPr>
        <p:spPr>
          <a:xfrm>
            <a:off x="8066837" y="4648200"/>
            <a:ext cx="3576218" cy="1524000"/>
          </a:xfrm>
          <a:prstGeom prst="roundRect">
            <a:avLst>
              <a:gd name="adj" fmla="val 84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4" name="Shape 34"/>
          <p:cNvSpPr/>
          <p:nvPr/>
        </p:nvSpPr>
        <p:spPr>
          <a:xfrm>
            <a:off x="8268005" y="4831080"/>
            <a:ext cx="420624" cy="42062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4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68955" y="4932030"/>
            <a:ext cx="218724" cy="218724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8798357" y="4831080"/>
            <a:ext cx="26618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Преимущество</a:t>
            </a:r>
            <a:endParaRPr lang="en-US" sz="1500" dirty="0"/>
          </a:p>
        </p:txBody>
      </p:sp>
      <p:sp>
        <p:nvSpPr>
          <p:cNvPr id="47" name="Text 36"/>
          <p:cNvSpPr txBox="1"/>
          <p:nvPr/>
        </p:nvSpPr>
        <p:spPr>
          <a:xfrm>
            <a:off x="8268005" y="5343144"/>
            <a:ext cx="3173882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Встроено в Moby, два сценария по ГК РБ, живая копилка, скидка за экономию, Манички всей семьи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8.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Соответствие ТЗ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7345375"/>
                <a:gridCol w="73152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Пункт ТЗ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Как реализовано в модуле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2. Возраст, карта, доступ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Сценарии 7–13 и 14–17; физическая и виртуальная карта; вход по смарт-коду или номеру, разрешения от родителя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Есть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3.1 Путь родителя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6 шагов: «Новое в Moby» → возраст и согласия → карта → доступ по коду/QR → ограничения → управление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Есть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3.2 Путь ребёнка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Карта, вход по разрешению, запрос доступа и денег родителю, игры и уроки с наградами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Есть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4.1 Платёжный инструмент и сервисы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Карта; карманные по понедельникам; копилки; вклад «На вырост»; страхование ребёнка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Есть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4.1 Нефинансовые сервисы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Подписки, скидки и купоны партнёров, уроки для детей, советы для родителей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Есть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4.1 Управление и безопасность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Лимиты, категории, подтверждение, блокировка; 18+ и азарт закрыты; «Я потерял карту», оспаривание операций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Есть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4.1 Геймификация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Задания от родителей, уроки, игры, уровни; родитель видит прогресс в «Успехах»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Есть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4.2 Win-Win и экономика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Привлечение 34,60 BYN, бонусы 1,78 BYN/мес, окупаемость 11,3 мес.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Есть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4.3 Программа лояльности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Кешбэк недели у партнёров; Манички раздельно у ребёнка и каждого родителя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Есть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5. Правовые рамки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Ст. 25–26 ГК РБ, согласия законного представителя, Закон № 99-З о персональных данных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Есть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772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9. Попробуйте модуль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975" y="1997415"/>
            <a:ext cx="266273" cy="26627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82880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Веб-демо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kvasiuum.github.io/hackatonmtbank — работает в браузере телефона, данные хранятся на устройстве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40080" y="2788920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975" y="2911815"/>
            <a:ext cx="266273" cy="26627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274320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Android-приложение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APK в GitHub Releases, обновляется при каждом изменении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640080" y="3703320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975" y="3826215"/>
            <a:ext cx="266273" cy="26627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365760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Как войти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смарт-код 1111; вверху переключение: Родитель 1 и 2, Ребёнок 1 и 2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640080" y="4617720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975" y="4740615"/>
            <a:ext cx="266273" cy="266273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457200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Что внутри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два родителя, два возраста, копилки, MobyPlay, Манички, экономика модуля</a:t>
            </a:r>
            <a:endParaRPr lang="en-US" sz="1500" dirty="0"/>
          </a:p>
        </p:txBody>
      </p:sp>
      <p:sp>
        <p:nvSpPr>
          <p:cNvPr id="15" name="Shape 9"/>
          <p:cNvSpPr/>
          <p:nvPr/>
        </p:nvSpPr>
        <p:spPr>
          <a:xfrm>
            <a:off x="6903720" y="1783080"/>
            <a:ext cx="2103120" cy="2103120"/>
          </a:xfrm>
          <a:prstGeom prst="roundRect">
            <a:avLst>
              <a:gd name="adj" fmla="val 608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6" name="Image 4" descr="QR-код веб-демо модуля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0" y="1920240"/>
            <a:ext cx="1828800" cy="182880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675120" y="40233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Наведите камеру телефона</a:t>
            </a:r>
            <a:endParaRPr lang="en-US" sz="1200" dirty="0"/>
          </a:p>
        </p:txBody>
      </p:sp>
      <p:pic>
        <p:nvPicPr>
          <p:cNvPr id="18" name="Image 5" descr="Экран модуля «Семья» в Mob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94923" y="914400"/>
            <a:ext cx="2248132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Moby «Семья» — банк, с которым ребёнок растёт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920240"/>
            <a:ext cx="3454298" cy="2103120"/>
          </a:xfrm>
          <a:prstGeom prst="roundRect">
            <a:avLst>
              <a:gd name="adj" fmla="val 6087"/>
            </a:avLst>
          </a:prstGeom>
          <a:solidFill>
            <a:schemeClr val="accent4">
              <a:alpha val="70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148840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295" y="2271735"/>
            <a:ext cx="266273" cy="26627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2148840"/>
            <a:ext cx="23570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Закрывает ТЗ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834640"/>
            <a:ext cx="29056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оба возраста, пути родителя и ребёнка, пакет, лояльность и правовые рамки — в работающем модуле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368698" y="1920240"/>
            <a:ext cx="3454298" cy="2103120"/>
          </a:xfrm>
          <a:prstGeom prst="roundRect">
            <a:avLst>
              <a:gd name="adj" fmla="val 6087"/>
            </a:avLst>
          </a:prstGeom>
          <a:solidFill>
            <a:schemeClr val="accent4">
              <a:alpha val="70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643018" y="2148840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5914" y="2271735"/>
            <a:ext cx="266273" cy="26627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83098" y="2148840"/>
            <a:ext cx="23570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Выделяется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643018" y="2834640"/>
            <a:ext cx="29056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живая копилка, скидка за экономию до 20%, Манички всей семьи и «Путь к 18»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8097317" y="1920240"/>
            <a:ext cx="3454298" cy="2103120"/>
          </a:xfrm>
          <a:prstGeom prst="roundRect">
            <a:avLst>
              <a:gd name="adj" fmla="val 6087"/>
            </a:avLst>
          </a:prstGeom>
          <a:solidFill>
            <a:schemeClr val="accent4">
              <a:alpha val="70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71637" y="2148840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4532" y="2271735"/>
            <a:ext cx="266273" cy="26627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11717" y="2148840"/>
            <a:ext cx="23570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Окупается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371637" y="2834640"/>
            <a:ext cx="29056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11,3 мес. на семью, 4,39 BYN прибыли в месяц, клиент с 7 лет до взрослого Moby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640080" y="44348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Спасибо! Ждём ваших вопросов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640080" y="5120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Мухин Захар · Мовсик Алексей · Гайдук Никита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40080" y="5532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kvasiuum.github.io/hackatonmtbank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9921240" y="4343400"/>
            <a:ext cx="164592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22" name="Image 3" descr="QR-код веб-демо модуля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0968" y="4453128"/>
            <a:ext cx="1426464" cy="14264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oby Семья">
  <a:themeElements>
    <a:clrScheme name="Moby Семья">
      <a:dk1>
        <a:srgbClr val="0A1F5C"/>
      </a:dk1>
      <a:lt1>
        <a:srgbClr val="FFFFFF"/>
      </a:lt1>
      <a:dk2>
        <a:srgbClr val="5B6B9A"/>
      </a:dk2>
      <a:lt2>
        <a:srgbClr val="F3F6FD"/>
      </a:lt2>
      <a:accent1>
        <a:srgbClr val="1E3FD6"/>
      </a:accent1>
      <a:accent2>
        <a:srgbClr val="E4252F"/>
      </a:accent2>
      <a:accent3>
        <a:srgbClr val="97CFFF"/>
      </a:accent3>
      <a:accent4>
        <a:srgbClr val="2334C8"/>
      </a:accent4>
      <a:accent5>
        <a:srgbClr val="D5E0FA"/>
      </a:accent5>
      <a:accent6>
        <a:srgbClr val="EAF0FF"/>
      </a:accent6>
      <a:hlink>
        <a:srgbClr val="1E3FD6"/>
      </a:hlink>
      <a:folHlink>
        <a:srgbClr val="5B6B9A"/>
      </a:folHlink>
    </a:clrScheme>
    <a:fontScheme name="Moby Семья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Детско-семейный банкинг в Moby</dc:title>
  <dc:subject>PptxGenJS Presentation</dc:subject>
  <dc:creator>Мухин Захар, Мовсик Алексей, Гайдук Никита</dc:creator>
  <cp:lastModifiedBy>Мухин Захар, Мовсик Алексей, Гайдук Никита</cp:lastModifiedBy>
  <cp:revision>1</cp:revision>
  <dcterms:created xsi:type="dcterms:W3CDTF">2026-10-21T14:47:03Z</dcterms:created>
  <dcterms:modified xsi:type="dcterms:W3CDTF">2026-10-21T14:47:03Z</dcterms:modified>
</cp:coreProperties>
</file>